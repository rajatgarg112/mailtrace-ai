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37"/>
    <a:srgbClr val="666666"/>
    <a:srgbClr val="D8E3F2"/>
    <a:srgbClr val="22518A"/>
    <a:srgbClr val="7C3AED"/>
    <a:srgbClr val="AFC8E8"/>
    <a:srgbClr val="000000"/>
    <a:srgbClr val="F4F4F4"/>
    <a:srgbClr val="6D28D9"/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t Garg" userId="7b9479c969fc498a" providerId="LiveId" clId="{FE9B6D01-B4BC-495D-B792-EEC6CD45D225}"/>
    <pc:docChg chg="modSld">
      <pc:chgData name="Rajat Garg" userId="7b9479c969fc498a" providerId="LiveId" clId="{FE9B6D01-B4BC-495D-B792-EEC6CD45D225}" dt="2026-09-08T15:32:42.194" v="19" actId="20577"/>
      <pc:docMkLst>
        <pc:docMk/>
      </pc:docMkLst>
      <pc:sldChg chg="modSp mod">
        <pc:chgData name="Rajat Garg" userId="7b9479c969fc498a" providerId="LiveId" clId="{FE9B6D01-B4BC-495D-B792-EEC6CD45D225}" dt="2026-09-08T15:32:42.194" v="19" actId="20577"/>
        <pc:sldMkLst>
          <pc:docMk/>
          <pc:sldMk cId="0" sldId="290"/>
        </pc:sldMkLst>
        <pc:spChg chg="mod">
          <ac:chgData name="Rajat Garg" userId="7b9479c969fc498a" providerId="LiveId" clId="{FE9B6D01-B4BC-495D-B792-EEC6CD45D225}" dt="2026-09-08T15:31:45.083" v="9" actId="20577"/>
          <ac:spMkLst>
            <pc:docMk/>
            <pc:sldMk cId="0" sldId="290"/>
            <ac:spMk id="44" creationId="{5E9CA4F1-E05C-1026-7C38-DCB4636025B6}"/>
          </ac:spMkLst>
        </pc:spChg>
        <pc:spChg chg="mod">
          <ac:chgData name="Rajat Garg" userId="7b9479c969fc498a" providerId="LiveId" clId="{FE9B6D01-B4BC-495D-B792-EEC6CD45D225}" dt="2026-09-08T15:32:42.194" v="19" actId="20577"/>
          <ac:spMkLst>
            <pc:docMk/>
            <pc:sldMk cId="0" sldId="290"/>
            <ac:spMk id="49" creationId="{A87210D4-A0AF-1A37-6021-A6BD0E49D801}"/>
          </ac:spMkLst>
        </pc:spChg>
      </pc:sldChg>
    </pc:docChg>
  </pc:docChgLst>
  <pc:docChgLst>
    <pc:chgData name="Raghav Sharma" userId="aba3a388-e7e9-4c70-86a9-c1aca7f2e234" providerId="ADAL" clId="{4EDB74B6-3AB4-44C0-93D9-3FE83C13D60D}"/>
    <pc:docChg chg="modSld">
      <pc:chgData name="Raghav Sharma" userId="aba3a388-e7e9-4c70-86a9-c1aca7f2e234" providerId="ADAL" clId="{4EDB74B6-3AB4-44C0-93D9-3FE83C13D60D}" dt="2026-09-05T18:55:56.884" v="109" actId="1076"/>
      <pc:docMkLst>
        <pc:docMk/>
      </pc:docMkLst>
      <pc:sldChg chg="addSp delSp modSp mod">
        <pc:chgData name="Raghav Sharma" userId="aba3a388-e7e9-4c70-86a9-c1aca7f2e234" providerId="ADAL" clId="{4EDB74B6-3AB4-44C0-93D9-3FE83C13D60D}" dt="2026-09-05T18:55:56.884" v="109" actId="1076"/>
        <pc:sldMkLst>
          <pc:docMk/>
          <pc:sldMk cId="0" sldId="290"/>
        </pc:sldMkLst>
        <pc:spChg chg="add mod">
          <ac:chgData name="Raghav Sharma" userId="aba3a388-e7e9-4c70-86a9-c1aca7f2e234" providerId="ADAL" clId="{4EDB74B6-3AB4-44C0-93D9-3FE83C13D60D}" dt="2026-09-05T18:53:55.830" v="91" actId="207"/>
          <ac:spMkLst>
            <pc:docMk/>
            <pc:sldMk cId="0" sldId="290"/>
            <ac:spMk id="3" creationId="{FA420D34-53F5-0DFE-F4E1-B0F3311ED1DF}"/>
          </ac:spMkLst>
        </pc:spChg>
        <pc:spChg chg="add mod">
          <ac:chgData name="Raghav Sharma" userId="aba3a388-e7e9-4c70-86a9-c1aca7f2e234" providerId="ADAL" clId="{4EDB74B6-3AB4-44C0-93D9-3FE83C13D60D}" dt="2026-09-05T18:54:08.788" v="96" actId="1076"/>
          <ac:spMkLst>
            <pc:docMk/>
            <pc:sldMk cId="0" sldId="290"/>
            <ac:spMk id="15" creationId="{A68CA8D7-FE7F-CC75-5C8F-E09A88E682A1}"/>
          </ac:spMkLst>
        </pc:spChg>
        <pc:spChg chg="add mod">
          <ac:chgData name="Raghav Sharma" userId="aba3a388-e7e9-4c70-86a9-c1aca7f2e234" providerId="ADAL" clId="{4EDB74B6-3AB4-44C0-93D9-3FE83C13D60D}" dt="2026-09-05T18:54:22.529" v="98" actId="1076"/>
          <ac:spMkLst>
            <pc:docMk/>
            <pc:sldMk cId="0" sldId="290"/>
            <ac:spMk id="34" creationId="{4CE8D7E9-0486-970F-0463-759C1006A801}"/>
          </ac:spMkLst>
        </pc:spChg>
        <pc:spChg chg="add mod">
          <ac:chgData name="Raghav Sharma" userId="aba3a388-e7e9-4c70-86a9-c1aca7f2e234" providerId="ADAL" clId="{4EDB74B6-3AB4-44C0-93D9-3FE83C13D60D}" dt="2026-09-05T18:54:31.953" v="100" actId="1076"/>
          <ac:spMkLst>
            <pc:docMk/>
            <pc:sldMk cId="0" sldId="290"/>
            <ac:spMk id="36" creationId="{E1B3C471-277F-29FC-8204-DBD8FED14629}"/>
          </ac:spMkLst>
        </pc:spChg>
        <pc:spChg chg="add mod">
          <ac:chgData name="Raghav Sharma" userId="aba3a388-e7e9-4c70-86a9-c1aca7f2e234" providerId="ADAL" clId="{4EDB74B6-3AB4-44C0-93D9-3FE83C13D60D}" dt="2026-09-05T18:54:51.653" v="102" actId="1076"/>
          <ac:spMkLst>
            <pc:docMk/>
            <pc:sldMk cId="0" sldId="290"/>
            <ac:spMk id="38" creationId="{3385F20B-D8DF-A541-FA0D-668706C123B8}"/>
          </ac:spMkLst>
        </pc:spChg>
        <pc:spChg chg="mod">
          <ac:chgData name="Raghav Sharma" userId="aba3a388-e7e9-4c70-86a9-c1aca7f2e234" providerId="ADAL" clId="{4EDB74B6-3AB4-44C0-93D9-3FE83C13D60D}" dt="2026-09-05T18:51:44.013" v="68" actId="14861"/>
          <ac:spMkLst>
            <pc:docMk/>
            <pc:sldMk cId="0" sldId="290"/>
            <ac:spMk id="40" creationId="{E05569E9-5B35-79AB-BE66-71B87F27F5AB}"/>
          </ac:spMkLst>
        </pc:spChg>
        <pc:spChg chg="add mod">
          <ac:chgData name="Raghav Sharma" userId="aba3a388-e7e9-4c70-86a9-c1aca7f2e234" providerId="ADAL" clId="{4EDB74B6-3AB4-44C0-93D9-3FE83C13D60D}" dt="2026-09-05T18:55:07.844" v="105" actId="1076"/>
          <ac:spMkLst>
            <pc:docMk/>
            <pc:sldMk cId="0" sldId="290"/>
            <ac:spMk id="41" creationId="{222F358E-73AE-2010-46A9-F815688335FF}"/>
          </ac:spMkLst>
        </pc:spChg>
        <pc:spChg chg="mod">
          <ac:chgData name="Raghav Sharma" userId="aba3a388-e7e9-4c70-86a9-c1aca7f2e234" providerId="ADAL" clId="{4EDB74B6-3AB4-44C0-93D9-3FE83C13D60D}" dt="2026-09-05T18:52:04.499" v="71" actId="14861"/>
          <ac:spMkLst>
            <pc:docMk/>
            <pc:sldMk cId="0" sldId="290"/>
            <ac:spMk id="42" creationId="{646E1550-507E-490B-FB84-BD2417008706}"/>
          </ac:spMkLst>
        </pc:spChg>
        <pc:spChg chg="mod">
          <ac:chgData name="Raghav Sharma" userId="aba3a388-e7e9-4c70-86a9-c1aca7f2e234" providerId="ADAL" clId="{4EDB74B6-3AB4-44C0-93D9-3FE83C13D60D}" dt="2026-09-05T18:52:15.205" v="72" actId="208"/>
          <ac:spMkLst>
            <pc:docMk/>
            <pc:sldMk cId="0" sldId="290"/>
            <ac:spMk id="43" creationId="{B7351955-1406-89B7-C1C9-4AF0AD009E8F}"/>
          </ac:spMkLst>
        </pc:spChg>
        <pc:spChg chg="mod">
          <ac:chgData name="Raghav Sharma" userId="aba3a388-e7e9-4c70-86a9-c1aca7f2e234" providerId="ADAL" clId="{4EDB74B6-3AB4-44C0-93D9-3FE83C13D60D}" dt="2026-09-05T18:53:17.513" v="88" actId="208"/>
          <ac:spMkLst>
            <pc:docMk/>
            <pc:sldMk cId="0" sldId="290"/>
            <ac:spMk id="44" creationId="{5E9CA4F1-E05C-1026-7C38-DCB4636025B6}"/>
          </ac:spMkLst>
        </pc:spChg>
        <pc:spChg chg="mod">
          <ac:chgData name="Raghav Sharma" userId="aba3a388-e7e9-4c70-86a9-c1aca7f2e234" providerId="ADAL" clId="{4EDB74B6-3AB4-44C0-93D9-3FE83C13D60D}" dt="2026-09-05T18:52:19.824" v="73" actId="208"/>
          <ac:spMkLst>
            <pc:docMk/>
            <pc:sldMk cId="0" sldId="290"/>
            <ac:spMk id="47" creationId="{8F6CE437-7A23-76AB-095F-17569D577E7A}"/>
          </ac:spMkLst>
        </pc:spChg>
        <pc:spChg chg="mod">
          <ac:chgData name="Raghav Sharma" userId="aba3a388-e7e9-4c70-86a9-c1aca7f2e234" providerId="ADAL" clId="{4EDB74B6-3AB4-44C0-93D9-3FE83C13D60D}" dt="2026-09-05T18:53:14.945" v="87" actId="208"/>
          <ac:spMkLst>
            <pc:docMk/>
            <pc:sldMk cId="0" sldId="290"/>
            <ac:spMk id="49" creationId="{A87210D4-A0AF-1A37-6021-A6BD0E49D801}"/>
          </ac:spMkLst>
        </pc:spChg>
        <pc:spChg chg="add mod">
          <ac:chgData name="Raghav Sharma" userId="aba3a388-e7e9-4c70-86a9-c1aca7f2e234" providerId="ADAL" clId="{4EDB74B6-3AB4-44C0-93D9-3FE83C13D60D}" dt="2026-09-05T18:55:33.429" v="107" actId="1076"/>
          <ac:spMkLst>
            <pc:docMk/>
            <pc:sldMk cId="0" sldId="290"/>
            <ac:spMk id="50" creationId="{C42FEF5A-A7F7-368D-5960-8230D0711F62}"/>
          </ac:spMkLst>
        </pc:spChg>
        <pc:spChg chg="mod">
          <ac:chgData name="Raghav Sharma" userId="aba3a388-e7e9-4c70-86a9-c1aca7f2e234" providerId="ADAL" clId="{4EDB74B6-3AB4-44C0-93D9-3FE83C13D60D}" dt="2026-09-05T18:52:22.864" v="74" actId="208"/>
          <ac:spMkLst>
            <pc:docMk/>
            <pc:sldMk cId="0" sldId="290"/>
            <ac:spMk id="53" creationId="{8B021562-06B8-1130-068B-7C26604D94DA}"/>
          </ac:spMkLst>
        </pc:spChg>
        <pc:spChg chg="mod">
          <ac:chgData name="Raghav Sharma" userId="aba3a388-e7e9-4c70-86a9-c1aca7f2e234" providerId="ADAL" clId="{4EDB74B6-3AB4-44C0-93D9-3FE83C13D60D}" dt="2026-09-05T18:52:25.173" v="75" actId="208"/>
          <ac:spMkLst>
            <pc:docMk/>
            <pc:sldMk cId="0" sldId="290"/>
            <ac:spMk id="55" creationId="{5987EF77-9829-890D-14A2-DD942BF9CE3F}"/>
          </ac:spMkLst>
        </pc:spChg>
        <pc:spChg chg="add mod">
          <ac:chgData name="Raghav Sharma" userId="aba3a388-e7e9-4c70-86a9-c1aca7f2e234" providerId="ADAL" clId="{4EDB74B6-3AB4-44C0-93D9-3FE83C13D60D}" dt="2026-09-05T18:55:56.884" v="109" actId="1076"/>
          <ac:spMkLst>
            <pc:docMk/>
            <pc:sldMk cId="0" sldId="290"/>
            <ac:spMk id="57" creationId="{9715F130-EA85-611B-218F-AF8454A58616}"/>
          </ac:spMkLst>
        </pc:spChg>
        <pc:spChg chg="mod">
          <ac:chgData name="Raghav Sharma" userId="aba3a388-e7e9-4c70-86a9-c1aca7f2e234" providerId="ADAL" clId="{4EDB74B6-3AB4-44C0-93D9-3FE83C13D60D}" dt="2026-09-05T18:52:32.604" v="77" actId="208"/>
          <ac:spMkLst>
            <pc:docMk/>
            <pc:sldMk cId="0" sldId="290"/>
            <ac:spMk id="58" creationId="{F0BFAC81-1D8F-ABF7-BD71-574BEC775BF6}"/>
          </ac:spMkLst>
        </pc:spChg>
        <pc:spChg chg="mod">
          <ac:chgData name="Raghav Sharma" userId="aba3a388-e7e9-4c70-86a9-c1aca7f2e234" providerId="ADAL" clId="{4EDB74B6-3AB4-44C0-93D9-3FE83C13D60D}" dt="2026-09-05T18:52:28.174" v="76" actId="208"/>
          <ac:spMkLst>
            <pc:docMk/>
            <pc:sldMk cId="0" sldId="290"/>
            <ac:spMk id="61" creationId="{381EA077-89EE-E0A3-4DDB-36178979F19A}"/>
          </ac:spMkLst>
        </pc:spChg>
        <pc:spChg chg="mod">
          <ac:chgData name="Raghav Sharma" userId="aba3a388-e7e9-4c70-86a9-c1aca7f2e234" providerId="ADAL" clId="{4EDB74B6-3AB4-44C0-93D9-3FE83C13D60D}" dt="2026-09-05T18:52:35.523" v="79" actId="1036"/>
          <ac:spMkLst>
            <pc:docMk/>
            <pc:sldMk cId="0" sldId="290"/>
            <ac:spMk id="17408" creationId="{508648F0-DAE9-7154-1C0A-C5C8A39110DB}"/>
          </ac:spMkLst>
        </pc:spChg>
        <pc:spChg chg="mod">
          <ac:chgData name="Raghav Sharma" userId="aba3a388-e7e9-4c70-86a9-c1aca7f2e234" providerId="ADAL" clId="{4EDB74B6-3AB4-44C0-93D9-3FE83C13D60D}" dt="2026-09-05T18:52:39.554" v="80" actId="208"/>
          <ac:spMkLst>
            <pc:docMk/>
            <pc:sldMk cId="0" sldId="290"/>
            <ac:spMk id="17411" creationId="{1BF53A4C-3D70-17DC-11B9-8FAD491E00E9}"/>
          </ac:spMkLst>
        </pc:spChg>
        <pc:spChg chg="mod">
          <ac:chgData name="Raghav Sharma" userId="aba3a388-e7e9-4c70-86a9-c1aca7f2e234" providerId="ADAL" clId="{4EDB74B6-3AB4-44C0-93D9-3FE83C13D60D}" dt="2026-09-05T18:53:04.496" v="86" actId="208"/>
          <ac:spMkLst>
            <pc:docMk/>
            <pc:sldMk cId="0" sldId="290"/>
            <ac:spMk id="17416" creationId="{3478177A-7366-D215-067A-EBB8AAEFD9E2}"/>
          </ac:spMkLst>
        </pc:spChg>
        <pc:spChg chg="mod">
          <ac:chgData name="Raghav Sharma" userId="aba3a388-e7e9-4c70-86a9-c1aca7f2e234" providerId="ADAL" clId="{4EDB74B6-3AB4-44C0-93D9-3FE83C13D60D}" dt="2026-09-05T18:53:02.131" v="85" actId="208"/>
          <ac:spMkLst>
            <pc:docMk/>
            <pc:sldMk cId="0" sldId="290"/>
            <ac:spMk id="17419" creationId="{60EB53C7-484F-9724-6173-D6CC18AE939F}"/>
          </ac:spMkLst>
        </pc:spChg>
        <pc:spChg chg="mod">
          <ac:chgData name="Raghav Sharma" userId="aba3a388-e7e9-4c70-86a9-c1aca7f2e234" providerId="ADAL" clId="{4EDB74B6-3AB4-44C0-93D9-3FE83C13D60D}" dt="2026-09-05T18:52:59.647" v="84" actId="208"/>
          <ac:spMkLst>
            <pc:docMk/>
            <pc:sldMk cId="0" sldId="290"/>
            <ac:spMk id="17421" creationId="{2A5EB89D-8B78-1002-F94A-BC952CD8076F}"/>
          </ac:spMkLst>
        </pc:spChg>
        <pc:spChg chg="mod">
          <ac:chgData name="Raghav Sharma" userId="aba3a388-e7e9-4c70-86a9-c1aca7f2e234" providerId="ADAL" clId="{4EDB74B6-3AB4-44C0-93D9-3FE83C13D60D}" dt="2026-09-05T18:52:56.733" v="83" actId="208"/>
          <ac:spMkLst>
            <pc:docMk/>
            <pc:sldMk cId="0" sldId="290"/>
            <ac:spMk id="17423" creationId="{0FC4F185-1BD0-CE45-E6C3-5F332DEEF5FD}"/>
          </ac:spMkLst>
        </pc:spChg>
        <pc:spChg chg="mod">
          <ac:chgData name="Raghav Sharma" userId="aba3a388-e7e9-4c70-86a9-c1aca7f2e234" providerId="ADAL" clId="{4EDB74B6-3AB4-44C0-93D9-3FE83C13D60D}" dt="2026-09-05T18:52:53.208" v="82" actId="208"/>
          <ac:spMkLst>
            <pc:docMk/>
            <pc:sldMk cId="0" sldId="290"/>
            <ac:spMk id="17425" creationId="{2D7C94E3-09CE-7810-72CF-DCDCEDB1E0F4}"/>
          </ac:spMkLst>
        </pc:spChg>
        <pc:spChg chg="mod">
          <ac:chgData name="Raghav Sharma" userId="aba3a388-e7e9-4c70-86a9-c1aca7f2e234" providerId="ADAL" clId="{4EDB74B6-3AB4-44C0-93D9-3FE83C13D60D}" dt="2026-09-05T18:52:49.533" v="81" actId="208"/>
          <ac:spMkLst>
            <pc:docMk/>
            <pc:sldMk cId="0" sldId="290"/>
            <ac:spMk id="17427" creationId="{0BD54E6A-A3EE-E425-BF54-8EDAB8FC80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manticscholar.org/paper/19066344252c886d6154c2da66d8e54abf5e53eb" TargetMode="External"/><Relationship Id="rId13" Type="http://schemas.openxmlformats.org/officeDocument/2006/relationships/hyperlink" Target="https://www.rfc-editor.org/rfc/rfc7208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i.org/10.1145/3485447.3512228" TargetMode="External"/><Relationship Id="rId12" Type="http://schemas.openxmlformats.org/officeDocument/2006/relationships/hyperlink" Target="https://otx.alienvault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3390/s24072077" TargetMode="External"/><Relationship Id="rId11" Type="http://schemas.openxmlformats.org/officeDocument/2006/relationships/hyperlink" Target="https://www.abuseipdb.com/" TargetMode="External"/><Relationship Id="rId5" Type="http://schemas.openxmlformats.org/officeDocument/2006/relationships/hyperlink" Target="https://doi.org/10.1109/ACCESS.2024.3352629" TargetMode="External"/><Relationship Id="rId15" Type="http://schemas.openxmlformats.org/officeDocument/2006/relationships/hyperlink" Target="https://www.meity.gov.in/static/uploads/2024/06/2bf1f0e9f04e6fb4f8fef35e82c42aa5.pdf" TargetMode="External"/><Relationship Id="rId10" Type="http://schemas.openxmlformats.org/officeDocument/2006/relationships/hyperlink" Target="https://dev.maxmind.com/geoip/geolite2-free-geolocation-data" TargetMode="External"/><Relationship Id="rId4" Type="http://schemas.openxmlformats.org/officeDocument/2006/relationships/hyperlink" Target="https://doi.org/10.1109/ACCESS.2022.3151903" TargetMode="External"/><Relationship Id="rId9" Type="http://schemas.openxmlformats.org/officeDocument/2006/relationships/hyperlink" Target="https://www.kaggle.com/datasets/naserabdullahalam/phishing-email-dataset" TargetMode="External"/><Relationship Id="rId14" Type="http://schemas.openxmlformats.org/officeDocument/2006/relationships/hyperlink" Target="https://www.cert-in.org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364639" y="153811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49" y="1399328"/>
            <a:ext cx="7506059" cy="466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SIH26106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AI-Powered Email Threat Detection,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GeoLocation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Forensic Intelligence Platform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200" dirty="0"/>
              <a:t>Blockchain &amp; Cybersecurity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portal)-Web Innovators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517208"/>
            <a:ext cx="12191999" cy="34079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94159" y="6492874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</a:rPr>
              <a:t>SIH 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87704" y="6503846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>
          <a:xfrm>
            <a:off x="1976582" y="-103435"/>
            <a:ext cx="7803504" cy="1147065"/>
          </a:xfrm>
        </p:spPr>
        <p:txBody>
          <a:bodyPr anchor="ctr" anchorCtr="0"/>
          <a:lstStyle/>
          <a:p>
            <a:pPr eaLnBrk="1" hangingPunct="1"/>
            <a:r>
              <a:rPr lang="en-IN" sz="2800" dirty="0" err="1">
                <a:solidFill>
                  <a:schemeClr val="accent4"/>
                </a:solidFill>
                <a:latin typeface="Aptos Display" panose="020B0004020202020204" pitchFamily="34" charset="0"/>
                <a:cs typeface="Aharoni" panose="02010803020104030203" pitchFamily="2" charset="-79"/>
              </a:rPr>
              <a:t>MailTrace</a:t>
            </a:r>
            <a:r>
              <a:rPr lang="en-IN" sz="2800" dirty="0">
                <a:solidFill>
                  <a:schemeClr val="accent4"/>
                </a:solidFill>
                <a:latin typeface="Aptos Display" panose="020B0004020202020204" pitchFamily="34" charset="0"/>
                <a:cs typeface="Aharoni" panose="02010803020104030203" pitchFamily="2" charset="-79"/>
              </a:rPr>
              <a:t> AI : </a:t>
            </a:r>
            <a:r>
              <a:rPr lang="en-IN" sz="2400" dirty="0">
                <a:solidFill>
                  <a:schemeClr val="accent4"/>
                </a:solidFill>
                <a:latin typeface="Tisa Offc Serif Pro" panose="020F0502020204030204" pitchFamily="2" charset="0"/>
              </a:rPr>
              <a:t>AI-Powered Email Threat Detection, Geolocation &amp; Forensic Intelligence</a:t>
            </a:r>
            <a:endParaRPr lang="en-US" sz="2400" b="1" dirty="0">
              <a:solidFill>
                <a:schemeClr val="accent4"/>
              </a:solidFill>
              <a:latin typeface="Tisa Offc Serif Pro" panose="020F0502020204030204" pitchFamily="2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BFC86F-6327-96D0-B712-7CE43793706E}"/>
              </a:ext>
            </a:extLst>
          </p:cNvPr>
          <p:cNvSpPr txBox="1"/>
          <p:nvPr/>
        </p:nvSpPr>
        <p:spPr>
          <a:xfrm>
            <a:off x="37795" y="1098127"/>
            <a:ext cx="4387404" cy="1623147"/>
          </a:xfrm>
          <a:prstGeom prst="roundRect">
            <a:avLst>
              <a:gd name="adj" fmla="val 20623"/>
            </a:avLst>
          </a:prstGeom>
          <a:gradFill>
            <a:gsLst>
              <a:gs pos="0">
                <a:srgbClr val="F4F4F4"/>
              </a:gs>
              <a:gs pos="50000">
                <a:srgbClr val="D8E3F2"/>
              </a:gs>
              <a:gs pos="100000">
                <a:srgbClr val="AFC8E8"/>
              </a:gs>
            </a:gsLst>
            <a:lin ang="5400000" scaled="1"/>
          </a:gradFill>
          <a:ln w="19050">
            <a:solidFill>
              <a:schemeClr val="tx1"/>
            </a:solidFill>
          </a:ln>
          <a:effectLst>
            <a:outerShdw blurRad="76200" dist="38100" dir="5400000" rotWithShape="0">
              <a:srgbClr val="000000">
                <a:alpha val="6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lIns="108000" tIns="144000" rIns="108000" bIns="144000" rtlCol="0" anchor="ctr" anchorCtr="0">
            <a:spAutoFit/>
          </a:bodyPr>
          <a:lstStyle/>
          <a:p>
            <a:r>
              <a:rPr lang="en-IN" b="1" u="sng" dirty="0">
                <a:solidFill>
                  <a:srgbClr val="6D28D9"/>
                </a:solidFill>
                <a:latin typeface="Aptos" panose="020B0004020202020204" pitchFamily="34" charset="0"/>
              </a:rPr>
              <a:t>Real-world issue :  </a:t>
            </a:r>
            <a:r>
              <a:rPr lang="en-IN" sz="1400" dirty="0">
                <a:solidFill>
                  <a:srgbClr val="252525"/>
                </a:solidFill>
                <a:latin typeface="Aptos" panose="020B0004020202020204" pitchFamily="34" charset="0"/>
              </a:rPr>
              <a:t>Over 91% of cyberattacks start via email (BEC, Spear-Phishing, CEO Fraud). Attackers use AI-generated language, spoofed domains, and multi-hop relay chains to bypass traditional spam filters.</a:t>
            </a:r>
          </a:p>
        </p:txBody>
      </p:sp>
      <p:pic>
        <p:nvPicPr>
          <p:cNvPr id="14" name="Graphic 13" descr="Envelope outline">
            <a:extLst>
              <a:ext uri="{FF2B5EF4-FFF2-40B4-BE49-F238E27FC236}">
                <a16:creationId xmlns:a16="http://schemas.microsoft.com/office/drawing/2014/main" id="{7E7F35E2-FF4C-DD25-00E4-B68AE6530C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15" t="70179" r="-95118" b="-36560"/>
          <a:stretch>
            <a:fillRect/>
          </a:stretch>
        </p:blipFill>
        <p:spPr>
          <a:xfrm rot="19639004">
            <a:off x="6674400" y="2499762"/>
            <a:ext cx="792000" cy="532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917CCB-82CE-3811-01A5-61DB3D1745C2}"/>
              </a:ext>
            </a:extLst>
          </p:cNvPr>
          <p:cNvSpPr txBox="1"/>
          <p:nvPr/>
        </p:nvSpPr>
        <p:spPr>
          <a:xfrm>
            <a:off x="37795" y="2864335"/>
            <a:ext cx="4387404" cy="1754801"/>
          </a:xfrm>
          <a:prstGeom prst="roundRect">
            <a:avLst>
              <a:gd name="adj" fmla="val 18996"/>
            </a:avLst>
          </a:prstGeom>
          <a:gradFill>
            <a:gsLst>
              <a:gs pos="0">
                <a:srgbClr val="F4F4F4"/>
              </a:gs>
              <a:gs pos="50000">
                <a:srgbClr val="D8E3F2"/>
              </a:gs>
              <a:gs pos="100000">
                <a:srgbClr val="AFC8E8"/>
              </a:gs>
            </a:gsLst>
            <a:lin ang="5400000" scaled="1"/>
          </a:gradFill>
          <a:ln w="19050"/>
          <a:effectLst>
            <a:outerShdw blurRad="76200" dist="38100" dir="5400000" algn="ctr" rotWithShape="0">
              <a:srgbClr val="000000">
                <a:alpha val="6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 anchor="ctr" anchorCtr="0">
            <a:spAutoFit/>
          </a:bodyPr>
          <a:lstStyle/>
          <a:p>
            <a:r>
              <a:rPr lang="en-IN" b="1" u="sng" dirty="0">
                <a:solidFill>
                  <a:srgbClr val="7C3AED"/>
                </a:solidFill>
                <a:latin typeface="Aptos" panose="020B0004020202020204" pitchFamily="34" charset="0"/>
              </a:rPr>
              <a:t>Why important :</a:t>
            </a:r>
            <a:r>
              <a:rPr lang="en-IN" b="1" dirty="0">
                <a:solidFill>
                  <a:srgbClr val="7C3AED"/>
                </a:solidFill>
                <a:latin typeface="Aptos" panose="020B0004020202020204" pitchFamily="34" charset="0"/>
              </a:rPr>
              <a:t> </a:t>
            </a:r>
            <a:r>
              <a:rPr lang="en-IN" sz="1400" dirty="0">
                <a:latin typeface="Aptos" panose="020B0004020202020204" pitchFamily="34" charset="0"/>
              </a:rPr>
              <a:t>India loses ₹1.25+ Lakh Crores annually to cyber fraud; educational &amp; government institutions (AICTE, universities) are prime targets. Existing filters only block emails but fail to trace origin infrastructure for police/legal action.--</a:t>
            </a:r>
          </a:p>
        </p:txBody>
      </p:sp>
      <p:pic>
        <p:nvPicPr>
          <p:cNvPr id="17" name="Graphic 16" descr="Envelope outline">
            <a:extLst>
              <a:ext uri="{FF2B5EF4-FFF2-40B4-BE49-F238E27FC236}">
                <a16:creationId xmlns:a16="http://schemas.microsoft.com/office/drawing/2014/main" id="{EE343BE6-B70D-2441-822D-6E13A4960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5417" t="6501" r="-5417" b="6501"/>
          <a:stretch>
            <a:fillRect/>
          </a:stretch>
        </p:blipFill>
        <p:spPr>
          <a:xfrm rot="19996008">
            <a:off x="3623299" y="2125194"/>
            <a:ext cx="798005" cy="5324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2DE62C-5554-C283-83DD-7C9E69A70925}"/>
              </a:ext>
            </a:extLst>
          </p:cNvPr>
          <p:cNvSpPr txBox="1"/>
          <p:nvPr/>
        </p:nvSpPr>
        <p:spPr>
          <a:xfrm>
            <a:off x="37795" y="4770148"/>
            <a:ext cx="4366269" cy="1570767"/>
          </a:xfrm>
          <a:prstGeom prst="roundRect">
            <a:avLst>
              <a:gd name="adj" fmla="val 15972"/>
            </a:avLst>
          </a:prstGeom>
          <a:gradFill>
            <a:gsLst>
              <a:gs pos="0">
                <a:srgbClr val="F4F4F4"/>
              </a:gs>
              <a:gs pos="50000">
                <a:srgbClr val="D8E3F2"/>
              </a:gs>
              <a:gs pos="100000">
                <a:srgbClr val="AFC8E8"/>
              </a:gs>
            </a:gsLst>
            <a:lin ang="5400000" scaled="1"/>
          </a:gra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44000" tIns="252000" rIns="216000" bIns="252000" rtlCol="0" anchor="ctr" anchorCtr="0">
            <a:spAutoFit/>
          </a:bodyPr>
          <a:lstStyle/>
          <a:p>
            <a:r>
              <a:rPr lang="en-IN" b="1" u="sng" dirty="0">
                <a:solidFill>
                  <a:srgbClr val="7C3AED"/>
                </a:solidFill>
                <a:latin typeface="Aptos" panose="020B0004020202020204" pitchFamily="34" charset="0"/>
              </a:rPr>
              <a:t>Solution :  </a:t>
            </a:r>
            <a:r>
              <a:rPr lang="en-IN" sz="1400" b="1" u="sng" dirty="0" err="1">
                <a:latin typeface="Aptos" panose="020B0004020202020204" pitchFamily="34" charset="0"/>
              </a:rPr>
              <a:t>MailTrace</a:t>
            </a:r>
            <a:r>
              <a:rPr lang="en-IN" sz="1400" b="1" u="sng" dirty="0">
                <a:latin typeface="Aptos" panose="020B0004020202020204" pitchFamily="34" charset="0"/>
              </a:rPr>
              <a:t> AI </a:t>
            </a:r>
            <a:r>
              <a:rPr lang="en-IN" sz="1400" dirty="0">
                <a:latin typeface="Aptos" panose="020B0004020202020204" pitchFamily="34" charset="0"/>
              </a:rPr>
              <a:t>combines NLP transformers, RFC-header forensic parsing, multi-hop IP geolocation, and graph attribution to detect threats in real time and trace their origin.</a:t>
            </a:r>
          </a:p>
        </p:txBody>
      </p:sp>
      <p:pic>
        <p:nvPicPr>
          <p:cNvPr id="22" name="Graphic 21" descr="Envelope outline">
            <a:extLst>
              <a:ext uri="{FF2B5EF4-FFF2-40B4-BE49-F238E27FC236}">
                <a16:creationId xmlns:a16="http://schemas.microsoft.com/office/drawing/2014/main" id="{C2AB2FF5-57A9-6052-B5F3-AC52CB4694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5417" t="6501" r="-5417" b="6501"/>
          <a:stretch>
            <a:fillRect/>
          </a:stretch>
        </p:blipFill>
        <p:spPr>
          <a:xfrm rot="19996008">
            <a:off x="3460442" y="4066630"/>
            <a:ext cx="798005" cy="532425"/>
          </a:xfrm>
          <a:prstGeom prst="rect">
            <a:avLst/>
          </a:prstGeom>
        </p:spPr>
      </p:pic>
      <p:pic>
        <p:nvPicPr>
          <p:cNvPr id="24" name="Graphic 23" descr="Envelope outline">
            <a:extLst>
              <a:ext uri="{FF2B5EF4-FFF2-40B4-BE49-F238E27FC236}">
                <a16:creationId xmlns:a16="http://schemas.microsoft.com/office/drawing/2014/main" id="{BFFAB164-BC78-1F51-DEB6-0D4A59F27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5417" t="6501" r="-5417" b="6501"/>
          <a:stretch>
            <a:fillRect/>
          </a:stretch>
        </p:blipFill>
        <p:spPr>
          <a:xfrm rot="19996008">
            <a:off x="3623299" y="5744821"/>
            <a:ext cx="798005" cy="5324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842EE6A-E714-1ED6-EC49-E9E7D18AD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2577" y="2279725"/>
            <a:ext cx="3808672" cy="38080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D1B845-7F41-CAD5-5C5C-051CEFCD9910}"/>
              </a:ext>
            </a:extLst>
          </p:cNvPr>
          <p:cNvSpPr txBox="1"/>
          <p:nvPr/>
        </p:nvSpPr>
        <p:spPr>
          <a:xfrm>
            <a:off x="7682630" y="1585218"/>
            <a:ext cx="1931201" cy="289441"/>
          </a:xfrm>
          <a:prstGeom prst="roundRect">
            <a:avLst>
              <a:gd name="adj" fmla="val 26240"/>
            </a:avLst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100" b="1" dirty="0"/>
              <a:t>Sophisticated BEC &amp; Spoofing</a:t>
            </a:r>
            <a:endParaRPr lang="en-IN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A94E88-4527-22CA-D4F2-9CE9BF41EE44}"/>
              </a:ext>
            </a:extLst>
          </p:cNvPr>
          <p:cNvSpPr txBox="1"/>
          <p:nvPr/>
        </p:nvSpPr>
        <p:spPr>
          <a:xfrm>
            <a:off x="9967662" y="1608703"/>
            <a:ext cx="2186543" cy="272415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36000" tIns="36000" rIns="36000" rtlCol="0">
            <a:spAutoFit/>
          </a:bodyPr>
          <a:lstStyle/>
          <a:p>
            <a:r>
              <a:rPr lang="en-IN" sz="1000" b="1" dirty="0"/>
              <a:t>AI Semantic &amp; Header Alignment Check</a:t>
            </a:r>
            <a:endParaRPr lang="en-IN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EA6D43-80C9-5808-028A-99859819CA57}"/>
              </a:ext>
            </a:extLst>
          </p:cNvPr>
          <p:cNvSpPr txBox="1"/>
          <p:nvPr/>
        </p:nvSpPr>
        <p:spPr>
          <a:xfrm>
            <a:off x="7682630" y="1215886"/>
            <a:ext cx="665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RISK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F13E4D-FF3F-D48F-6A06-31037AFD6814}"/>
              </a:ext>
            </a:extLst>
          </p:cNvPr>
          <p:cNvSpPr txBox="1"/>
          <p:nvPr/>
        </p:nvSpPr>
        <p:spPr>
          <a:xfrm>
            <a:off x="9967662" y="1239371"/>
            <a:ext cx="115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SOLUTION</a:t>
            </a:r>
            <a:endParaRPr lang="en-IN" dirty="0"/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D20C8E74-879A-C043-7586-B27AC6809E75}"/>
              </a:ext>
            </a:extLst>
          </p:cNvPr>
          <p:cNvSpPr/>
          <p:nvPr/>
        </p:nvSpPr>
        <p:spPr>
          <a:xfrm>
            <a:off x="9576826" y="1597578"/>
            <a:ext cx="406519" cy="289441"/>
          </a:xfrm>
          <a:prstGeom prst="leftRightArrow">
            <a:avLst/>
          </a:prstGeom>
          <a:solidFill>
            <a:srgbClr val="FFC000"/>
          </a:solidFill>
          <a:effectLst>
            <a:outerShdw blurRad="88900" dist="50800" dir="5400000" algn="ctr" rotWithShape="0">
              <a:srgbClr val="000000">
                <a:alpha val="5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5F7D0B-8746-D4A8-9546-EA19206D1862}"/>
              </a:ext>
            </a:extLst>
          </p:cNvPr>
          <p:cNvSpPr txBox="1"/>
          <p:nvPr/>
        </p:nvSpPr>
        <p:spPr>
          <a:xfrm>
            <a:off x="7682630" y="2057068"/>
            <a:ext cx="1953860" cy="2894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1100" b="1" dirty="0">
                <a:latin typeface="Aptos" panose="020B0004020202020204" pitchFamily="34" charset="0"/>
              </a:rPr>
              <a:t>Anonymized Relays &amp; VPNs</a:t>
            </a:r>
            <a:endParaRPr lang="en-IN" sz="1100" dirty="0">
              <a:latin typeface="Aptos" panose="020B00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E2FA10-500F-C681-C1FB-200C6F12F08F}"/>
              </a:ext>
            </a:extLst>
          </p:cNvPr>
          <p:cNvSpPr txBox="1"/>
          <p:nvPr/>
        </p:nvSpPr>
        <p:spPr>
          <a:xfrm>
            <a:off x="9975503" y="2059405"/>
            <a:ext cx="2170860" cy="361355"/>
          </a:xfrm>
          <a:prstGeom prst="roundRect">
            <a:avLst>
              <a:gd name="adj" fmla="val 26240"/>
            </a:avLst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8000" tIns="0" rIns="0" bIns="0" rtlCol="0" anchor="ctr" anchorCtr="0">
            <a:spAutoFit/>
          </a:bodyPr>
          <a:lstStyle/>
          <a:p>
            <a:pPr algn="ctr"/>
            <a:r>
              <a:rPr lang="en-IN" sz="1000" b="1" dirty="0">
                <a:latin typeface="Aptos" panose="020B0004020202020204" pitchFamily="34" charset="0"/>
              </a:rPr>
              <a:t>Earliest Node Extraction &amp; IP Geolocation</a:t>
            </a:r>
            <a:endParaRPr lang="en-IN" sz="1000" dirty="0">
              <a:latin typeface="Aptos" panose="020B0004020202020204" pitchFamily="34" charset="0"/>
            </a:endParaRPr>
          </a:p>
        </p:txBody>
      </p:sp>
      <p:sp>
        <p:nvSpPr>
          <p:cNvPr id="39" name="Arrow: Left-Right 38">
            <a:extLst>
              <a:ext uri="{FF2B5EF4-FFF2-40B4-BE49-F238E27FC236}">
                <a16:creationId xmlns:a16="http://schemas.microsoft.com/office/drawing/2014/main" id="{0045ECB3-3D25-218C-38BE-BC2A4B53D055}"/>
              </a:ext>
            </a:extLst>
          </p:cNvPr>
          <p:cNvSpPr/>
          <p:nvPr/>
        </p:nvSpPr>
        <p:spPr>
          <a:xfrm>
            <a:off x="9611301" y="2093857"/>
            <a:ext cx="406519" cy="289441"/>
          </a:xfrm>
          <a:prstGeom prst="leftRightArrow">
            <a:avLst/>
          </a:prstGeom>
          <a:solidFill>
            <a:srgbClr val="FFC000"/>
          </a:solidFill>
          <a:effectLst>
            <a:outerShdw blurRad="88900" dist="50800" dir="5400000" algn="ctr" rotWithShape="0">
              <a:srgbClr val="000000">
                <a:alpha val="5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0C3C44-3163-1BC0-6AA7-4E1CEC78CC0B}"/>
              </a:ext>
            </a:extLst>
          </p:cNvPr>
          <p:cNvSpPr txBox="1"/>
          <p:nvPr/>
        </p:nvSpPr>
        <p:spPr>
          <a:xfrm>
            <a:off x="7682630" y="2602702"/>
            <a:ext cx="1953860" cy="28944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100" b="1" dirty="0"/>
              <a:t>Lack of Legal / FIR Evidence</a:t>
            </a:r>
            <a:endParaRPr lang="en-IN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093285-C2C3-AE0C-48CD-EC8376C39A6C}"/>
              </a:ext>
            </a:extLst>
          </p:cNvPr>
          <p:cNvSpPr txBox="1"/>
          <p:nvPr/>
        </p:nvSpPr>
        <p:spPr>
          <a:xfrm>
            <a:off x="9972019" y="2569611"/>
            <a:ext cx="2177828" cy="462022"/>
          </a:xfrm>
          <a:prstGeom prst="roundRect">
            <a:avLst>
              <a:gd name="adj" fmla="val 23448"/>
            </a:avLst>
          </a:prstGeom>
          <a:solidFill>
            <a:srgbClr val="92D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000" b="1" dirty="0"/>
              <a:t>ISO/IEC 27037 Tamper-Proof Forensic </a:t>
            </a:r>
            <a:r>
              <a:rPr lang="en-IN" sz="1000" b="1" dirty="0">
                <a:latin typeface="Aptos" panose="020B0004020202020204" pitchFamily="34" charset="0"/>
              </a:rPr>
              <a:t>PDF</a:t>
            </a:r>
          </a:p>
        </p:txBody>
      </p:sp>
      <p:sp>
        <p:nvSpPr>
          <p:cNvPr id="45" name="Arrow: Left-Right 44">
            <a:extLst>
              <a:ext uri="{FF2B5EF4-FFF2-40B4-BE49-F238E27FC236}">
                <a16:creationId xmlns:a16="http://schemas.microsoft.com/office/drawing/2014/main" id="{87B2E34E-38F7-976F-FE97-99665C5A5548}"/>
              </a:ext>
            </a:extLst>
          </p:cNvPr>
          <p:cNvSpPr/>
          <p:nvPr/>
        </p:nvSpPr>
        <p:spPr>
          <a:xfrm>
            <a:off x="9598319" y="2633499"/>
            <a:ext cx="406519" cy="289441"/>
          </a:xfrm>
          <a:prstGeom prst="leftRightArrow">
            <a:avLst/>
          </a:prstGeom>
          <a:solidFill>
            <a:srgbClr val="FFC000"/>
          </a:solidFill>
          <a:effectLst>
            <a:outerShdw blurRad="88900" dist="50800" dir="5400000" algn="ctr" rotWithShape="0">
              <a:srgbClr val="000000">
                <a:alpha val="5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363" name="Picture 15362">
            <a:extLst>
              <a:ext uri="{FF2B5EF4-FFF2-40B4-BE49-F238E27FC236}">
                <a16:creationId xmlns:a16="http://schemas.microsoft.com/office/drawing/2014/main" id="{FB015CB6-D8FB-A108-E633-0835D18EE6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8832" y="3819703"/>
            <a:ext cx="2903672" cy="1888069"/>
          </a:xfrm>
          <a:prstGeom prst="rect">
            <a:avLst/>
          </a:prstGeom>
        </p:spPr>
      </p:pic>
      <p:pic>
        <p:nvPicPr>
          <p:cNvPr id="15367" name="Graphic 15366" descr="Arrow: Rotate left outline">
            <a:extLst>
              <a:ext uri="{FF2B5EF4-FFF2-40B4-BE49-F238E27FC236}">
                <a16:creationId xmlns:a16="http://schemas.microsoft.com/office/drawing/2014/main" id="{B6B0D253-8699-939A-3142-812AE62827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7190669">
            <a:off x="8313373" y="2992047"/>
            <a:ext cx="894423" cy="914400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28D7D5AC-B624-9B3F-AD93-828AC8EEFD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501" y="129001"/>
            <a:ext cx="1761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 Innovators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</a:rPr>
              <a:t>SIH 2026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501" y="129001"/>
            <a:ext cx="17616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 Innovators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F21A9A-F186-AF0E-C144-5A60DE585406}"/>
              </a:ext>
            </a:extLst>
          </p:cNvPr>
          <p:cNvSpPr txBox="1"/>
          <p:nvPr/>
        </p:nvSpPr>
        <p:spPr>
          <a:xfrm>
            <a:off x="270964" y="1132189"/>
            <a:ext cx="2503054" cy="40862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en-IN" dirty="0"/>
              <a:t>Methodology &amp; Process</a:t>
            </a: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5B09CFFE-F0B8-99A1-D6FB-08A953233953}"/>
              </a:ext>
            </a:extLst>
          </p:cNvPr>
          <p:cNvSpPr/>
          <p:nvPr/>
        </p:nvSpPr>
        <p:spPr>
          <a:xfrm>
            <a:off x="164052" y="2323879"/>
            <a:ext cx="877824" cy="585216"/>
          </a:xfrm>
          <a:prstGeom prst="roundRect">
            <a:avLst/>
          </a:prstGeom>
          <a:solidFill>
            <a:srgbClr val="1F5897"/>
          </a:solidFill>
          <a:ln w="15240">
            <a:solidFill>
              <a:srgbClr val="1F58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6A06A-BB07-3784-D6B3-A89C68BE53FB}"/>
              </a:ext>
            </a:extLst>
          </p:cNvPr>
          <p:cNvSpPr txBox="1"/>
          <p:nvPr/>
        </p:nvSpPr>
        <p:spPr>
          <a:xfrm>
            <a:off x="209772" y="2398341"/>
            <a:ext cx="786384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80" b="1" dirty="0">
                <a:solidFill>
                  <a:srgbClr val="FFFFFF"/>
                </a:solidFill>
                <a:latin typeface="Aptos"/>
              </a:rPr>
              <a:t>RAW INGESTION
&amp; RFC PARSING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90A6E4-2C5D-5256-5B87-06B1C2FCE05D}"/>
              </a:ext>
            </a:extLst>
          </p:cNvPr>
          <p:cNvSpPr txBox="1"/>
          <p:nvPr/>
        </p:nvSpPr>
        <p:spPr>
          <a:xfrm>
            <a:off x="202846" y="2683332"/>
            <a:ext cx="78638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0" dirty="0">
                <a:solidFill>
                  <a:srgbClr val="FFFFFF"/>
                </a:solidFill>
                <a:latin typeface="Aptos"/>
              </a:rPr>
              <a:t>Raw data processing
and parsing</a:t>
            </a:r>
          </a:p>
        </p:txBody>
      </p:sp>
      <p:sp>
        <p:nvSpPr>
          <p:cNvPr id="16" name="Rounded Rectangle 18">
            <a:extLst>
              <a:ext uri="{FF2B5EF4-FFF2-40B4-BE49-F238E27FC236}">
                <a16:creationId xmlns:a16="http://schemas.microsoft.com/office/drawing/2014/main" id="{DBA1BB96-DD74-A8C2-6272-7EC6E3A6080F}"/>
              </a:ext>
            </a:extLst>
          </p:cNvPr>
          <p:cNvSpPr/>
          <p:nvPr/>
        </p:nvSpPr>
        <p:spPr>
          <a:xfrm>
            <a:off x="1103196" y="1774273"/>
            <a:ext cx="877824" cy="585216"/>
          </a:xfrm>
          <a:prstGeom prst="roundRect">
            <a:avLst/>
          </a:prstGeom>
          <a:solidFill>
            <a:srgbClr val="00AED6"/>
          </a:solidFill>
          <a:ln w="1524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38FAC7-E407-0E3B-E774-3CD035C86DA5}"/>
              </a:ext>
            </a:extLst>
          </p:cNvPr>
          <p:cNvSpPr txBox="1"/>
          <p:nvPr/>
        </p:nvSpPr>
        <p:spPr>
          <a:xfrm>
            <a:off x="1124939" y="1826716"/>
            <a:ext cx="786384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80" b="1" dirty="0">
                <a:solidFill>
                  <a:srgbClr val="FFFFFF"/>
                </a:solidFill>
                <a:latin typeface="Aptos"/>
              </a:rPr>
              <a:t>CRYPTOGRAPHIC
SPF/DKIM AUDIT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B8422D-B3CF-2D4E-B921-138F295CC42E}"/>
              </a:ext>
            </a:extLst>
          </p:cNvPr>
          <p:cNvSpPr txBox="1"/>
          <p:nvPr/>
        </p:nvSpPr>
        <p:spPr>
          <a:xfrm>
            <a:off x="1148916" y="2084264"/>
            <a:ext cx="78638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0" dirty="0">
                <a:solidFill>
                  <a:srgbClr val="FFFFFF"/>
                </a:solidFill>
                <a:latin typeface="Aptos"/>
              </a:rPr>
              <a:t>Validate &amp; present
security proofs</a:t>
            </a:r>
          </a:p>
        </p:txBody>
      </p:sp>
      <p:sp>
        <p:nvSpPr>
          <p:cNvPr id="20" name="Rounded Rectangle 21">
            <a:extLst>
              <a:ext uri="{FF2B5EF4-FFF2-40B4-BE49-F238E27FC236}">
                <a16:creationId xmlns:a16="http://schemas.microsoft.com/office/drawing/2014/main" id="{FBD5545A-70F2-65F6-DF70-618BCB156D01}"/>
              </a:ext>
            </a:extLst>
          </p:cNvPr>
          <p:cNvSpPr/>
          <p:nvPr/>
        </p:nvSpPr>
        <p:spPr>
          <a:xfrm>
            <a:off x="2073846" y="2335718"/>
            <a:ext cx="877824" cy="585216"/>
          </a:xfrm>
          <a:prstGeom prst="roundRect">
            <a:avLst/>
          </a:prstGeom>
          <a:solidFill>
            <a:srgbClr val="1C9B97"/>
          </a:solidFill>
          <a:ln w="15240">
            <a:solidFill>
              <a:srgbClr val="1C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57080D-9BF7-1F9E-D532-3A75FC0DC9E8}"/>
              </a:ext>
            </a:extLst>
          </p:cNvPr>
          <p:cNvSpPr txBox="1"/>
          <p:nvPr/>
        </p:nvSpPr>
        <p:spPr>
          <a:xfrm>
            <a:off x="2126487" y="2374193"/>
            <a:ext cx="786384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80" b="1" dirty="0">
                <a:solidFill>
                  <a:srgbClr val="FFFFFF"/>
                </a:solidFill>
                <a:latin typeface="Aptos"/>
              </a:rPr>
              <a:t>CRYPTOGRAPHIC
SPF/DKIM AUDIT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7013C0-787B-EB0D-DF94-35EC6ED6E33C}"/>
              </a:ext>
            </a:extLst>
          </p:cNvPr>
          <p:cNvSpPr txBox="1"/>
          <p:nvPr/>
        </p:nvSpPr>
        <p:spPr>
          <a:xfrm>
            <a:off x="2092935" y="2648339"/>
            <a:ext cx="78638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0" dirty="0">
                <a:solidFill>
                  <a:srgbClr val="FFFFFF"/>
                </a:solidFill>
                <a:latin typeface="Aptos"/>
              </a:rPr>
              <a:t>Validate detection
of malicious activity</a:t>
            </a:r>
          </a:p>
        </p:txBody>
      </p:sp>
      <p:sp>
        <p:nvSpPr>
          <p:cNvPr id="23" name="Rounded Rectangle 24">
            <a:extLst>
              <a:ext uri="{FF2B5EF4-FFF2-40B4-BE49-F238E27FC236}">
                <a16:creationId xmlns:a16="http://schemas.microsoft.com/office/drawing/2014/main" id="{E4628734-2EF2-F289-6294-5F2FC82D2581}"/>
              </a:ext>
            </a:extLst>
          </p:cNvPr>
          <p:cNvSpPr/>
          <p:nvPr/>
        </p:nvSpPr>
        <p:spPr>
          <a:xfrm>
            <a:off x="2080767" y="3159807"/>
            <a:ext cx="877824" cy="585216"/>
          </a:xfrm>
          <a:prstGeom prst="roundRect">
            <a:avLst/>
          </a:prstGeom>
          <a:solidFill>
            <a:srgbClr val="5AB143"/>
          </a:solidFill>
          <a:ln w="15240">
            <a:solidFill>
              <a:srgbClr val="5AB1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9A6F00-A66B-66C7-32F9-702EC5CF1432}"/>
              </a:ext>
            </a:extLst>
          </p:cNvPr>
          <p:cNvSpPr txBox="1"/>
          <p:nvPr/>
        </p:nvSpPr>
        <p:spPr>
          <a:xfrm>
            <a:off x="2145776" y="3175140"/>
            <a:ext cx="786384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80" b="1" dirty="0">
                <a:solidFill>
                  <a:srgbClr val="FFFFFF"/>
                </a:solidFill>
                <a:latin typeface="Aptos"/>
              </a:rPr>
              <a:t>AI / NLP
DECEPTION ANALYSIS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173A6B-9F51-B7C3-355B-F6268CB81100}"/>
              </a:ext>
            </a:extLst>
          </p:cNvPr>
          <p:cNvSpPr txBox="1"/>
          <p:nvPr/>
        </p:nvSpPr>
        <p:spPr>
          <a:xfrm>
            <a:off x="2154719" y="3497898"/>
            <a:ext cx="78638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0" dirty="0">
                <a:solidFill>
                  <a:srgbClr val="FFFFFF"/>
                </a:solidFill>
                <a:latin typeface="Aptos"/>
              </a:rPr>
              <a:t>Machine learning &amp;
NLP analysis</a:t>
            </a:r>
          </a:p>
        </p:txBody>
      </p:sp>
      <p:sp>
        <p:nvSpPr>
          <p:cNvPr id="26" name="Rounded Rectangle 27">
            <a:extLst>
              <a:ext uri="{FF2B5EF4-FFF2-40B4-BE49-F238E27FC236}">
                <a16:creationId xmlns:a16="http://schemas.microsoft.com/office/drawing/2014/main" id="{13437F6E-BE91-80C5-E302-6A3BDC698861}"/>
              </a:ext>
            </a:extLst>
          </p:cNvPr>
          <p:cNvSpPr/>
          <p:nvPr/>
        </p:nvSpPr>
        <p:spPr>
          <a:xfrm>
            <a:off x="1100436" y="3745023"/>
            <a:ext cx="877824" cy="585216"/>
          </a:xfrm>
          <a:prstGeom prst="roundRect">
            <a:avLst/>
          </a:prstGeom>
          <a:solidFill>
            <a:srgbClr val="F59726"/>
          </a:solidFill>
          <a:ln w="15240">
            <a:solidFill>
              <a:srgbClr val="F5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022FAE-1284-EAED-F726-2233713E9A99}"/>
              </a:ext>
            </a:extLst>
          </p:cNvPr>
          <p:cNvSpPr txBox="1"/>
          <p:nvPr/>
        </p:nvSpPr>
        <p:spPr>
          <a:xfrm>
            <a:off x="1124939" y="3776608"/>
            <a:ext cx="786384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80" b="1" dirty="0">
                <a:solidFill>
                  <a:srgbClr val="FFFFFF"/>
                </a:solidFill>
                <a:latin typeface="Aptos"/>
              </a:rPr>
              <a:t>THREAT GRAPH
CORRELATION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07E966-9DDA-8BEC-F55A-78E56F86CA0F}"/>
              </a:ext>
            </a:extLst>
          </p:cNvPr>
          <p:cNvSpPr txBox="1"/>
          <p:nvPr/>
        </p:nvSpPr>
        <p:spPr>
          <a:xfrm>
            <a:off x="1148916" y="4066884"/>
            <a:ext cx="78638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0" dirty="0">
                <a:solidFill>
                  <a:srgbClr val="FFFFFF"/>
                </a:solidFill>
                <a:latin typeface="Aptos"/>
              </a:rPr>
              <a:t>Pattern recognition &amp;
network correlation</a:t>
            </a:r>
          </a:p>
        </p:txBody>
      </p:sp>
      <p:sp>
        <p:nvSpPr>
          <p:cNvPr id="29" name="Rounded Rectangle 30">
            <a:extLst>
              <a:ext uri="{FF2B5EF4-FFF2-40B4-BE49-F238E27FC236}">
                <a16:creationId xmlns:a16="http://schemas.microsoft.com/office/drawing/2014/main" id="{A4742C5E-8205-9850-0DA2-214E50159522}"/>
              </a:ext>
            </a:extLst>
          </p:cNvPr>
          <p:cNvSpPr/>
          <p:nvPr/>
        </p:nvSpPr>
        <p:spPr>
          <a:xfrm>
            <a:off x="157126" y="3159807"/>
            <a:ext cx="877824" cy="585216"/>
          </a:xfrm>
          <a:prstGeom prst="roundRect">
            <a:avLst/>
          </a:prstGeom>
          <a:solidFill>
            <a:srgbClr val="E84A4A"/>
          </a:solidFill>
          <a:ln w="15240">
            <a:solidFill>
              <a:srgbClr val="E8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019A5E-9213-A645-33B2-B845760F6B9D}"/>
              </a:ext>
            </a:extLst>
          </p:cNvPr>
          <p:cNvSpPr txBox="1"/>
          <p:nvPr/>
        </p:nvSpPr>
        <p:spPr>
          <a:xfrm>
            <a:off x="178912" y="3203712"/>
            <a:ext cx="786384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80" b="1" dirty="0">
                <a:solidFill>
                  <a:srgbClr val="FFFFFF"/>
                </a:solidFill>
                <a:latin typeface="Aptos"/>
              </a:rPr>
              <a:t>FORENSIC
DESIRED EXPORT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E3C1A0-160A-52DF-F9C8-6E865C9AF1D4}"/>
              </a:ext>
            </a:extLst>
          </p:cNvPr>
          <p:cNvSpPr txBox="1"/>
          <p:nvPr/>
        </p:nvSpPr>
        <p:spPr>
          <a:xfrm>
            <a:off x="202846" y="3501000"/>
            <a:ext cx="78638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0" dirty="0">
                <a:solidFill>
                  <a:srgbClr val="FFFFFF"/>
                </a:solidFill>
                <a:latin typeface="Aptos"/>
              </a:rPr>
              <a:t>Final reporting to
train, assess &amp; act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18B0BF-F796-5626-5CAB-6E74ED4B25DE}"/>
              </a:ext>
            </a:extLst>
          </p:cNvPr>
          <p:cNvSpPr txBox="1"/>
          <p:nvPr/>
        </p:nvSpPr>
        <p:spPr>
          <a:xfrm>
            <a:off x="945989" y="2552397"/>
            <a:ext cx="1097280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143152"/>
                </a:solidFill>
                <a:latin typeface="Aptos"/>
              </a:rPr>
              <a:t>EMAIL SECURITY
LIFECYCLE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E1F77C-658C-E3A9-CBF8-1133575EA2C5}"/>
              </a:ext>
            </a:extLst>
          </p:cNvPr>
          <p:cNvSpPr txBox="1"/>
          <p:nvPr/>
        </p:nvSpPr>
        <p:spPr>
          <a:xfrm>
            <a:off x="963743" y="3203712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>
                <a:solidFill>
                  <a:srgbClr val="5A6269"/>
                </a:solidFill>
                <a:latin typeface="Aptos"/>
              </a:rPr>
              <a:t>METHODOLOGY</a:t>
            </a:r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827B5822-B741-0087-DB7B-A68441A597E8}"/>
              </a:ext>
            </a:extLst>
          </p:cNvPr>
          <p:cNvCxnSpPr>
            <a:stCxn id="23" idx="2"/>
            <a:endCxn id="26" idx="3"/>
          </p:cNvCxnSpPr>
          <p:nvPr/>
        </p:nvCxnSpPr>
        <p:spPr>
          <a:xfrm rot="5400000">
            <a:off x="2102666" y="3620618"/>
            <a:ext cx="292608" cy="54141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E17181A0-D408-29D9-691D-4D2AA119D776}"/>
              </a:ext>
            </a:extLst>
          </p:cNvPr>
          <p:cNvCxnSpPr>
            <a:stCxn id="26" idx="1"/>
            <a:endCxn id="29" idx="2"/>
          </p:cNvCxnSpPr>
          <p:nvPr/>
        </p:nvCxnSpPr>
        <p:spPr>
          <a:xfrm rot="10800000">
            <a:off x="596038" y="3745023"/>
            <a:ext cx="504398" cy="29260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F8F5F666-E2B8-54C2-EEE3-CAEF6C3E1B31}"/>
              </a:ext>
            </a:extLst>
          </p:cNvPr>
          <p:cNvCxnSpPr>
            <a:cxnSpLocks/>
            <a:stCxn id="29" idx="0"/>
            <a:endCxn id="8" idx="2"/>
          </p:cNvCxnSpPr>
          <p:nvPr/>
        </p:nvCxnSpPr>
        <p:spPr>
          <a:xfrm rot="5400000" flipH="1" flipV="1">
            <a:off x="474145" y="3030988"/>
            <a:ext cx="250712" cy="692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57E08DB9-AC83-1247-ED3E-31EA40D31AC7}"/>
              </a:ext>
            </a:extLst>
          </p:cNvPr>
          <p:cNvCxnSpPr>
            <a:cxnSpLocks/>
            <a:stCxn id="8" idx="0"/>
            <a:endCxn id="16" idx="1"/>
          </p:cNvCxnSpPr>
          <p:nvPr/>
        </p:nvCxnSpPr>
        <p:spPr>
          <a:xfrm rot="5400000" flipH="1" flipV="1">
            <a:off x="724581" y="1945264"/>
            <a:ext cx="256998" cy="50023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B755A938-21E3-E316-5904-49EEFAA9A348}"/>
              </a:ext>
            </a:extLst>
          </p:cNvPr>
          <p:cNvCxnSpPr>
            <a:cxnSpLocks/>
            <a:stCxn id="16" idx="3"/>
            <a:endCxn id="20" idx="0"/>
          </p:cNvCxnSpPr>
          <p:nvPr/>
        </p:nvCxnSpPr>
        <p:spPr>
          <a:xfrm>
            <a:off x="1981020" y="2066881"/>
            <a:ext cx="531738" cy="26883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8D81CA63-FEA2-1F9D-A97B-66F64B833DE7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 rot="16200000" flipH="1">
            <a:off x="2396782" y="3036909"/>
            <a:ext cx="238873" cy="69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CE17E64-0AC6-A058-542D-0744DF63E5AC}"/>
              </a:ext>
            </a:extLst>
          </p:cNvPr>
          <p:cNvSpPr txBox="1"/>
          <p:nvPr/>
        </p:nvSpPr>
        <p:spPr>
          <a:xfrm>
            <a:off x="7996574" y="1160348"/>
            <a:ext cx="39244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70C0"/>
                </a:solidFill>
                <a:latin typeface="Montserrat" panose="020F0502020204030204" pitchFamily="2" charset="0"/>
              </a:rPr>
              <a:t>Project Components </a:t>
            </a:r>
            <a:r>
              <a:rPr lang="en-IN" sz="2000" b="1" dirty="0">
                <a:solidFill>
                  <a:schemeClr val="accent1"/>
                </a:solidFill>
                <a:latin typeface="Montserrat" panose="020F0502020204030204" pitchFamily="2" charset="0"/>
              </a:rPr>
              <a:t>&amp;</a:t>
            </a:r>
            <a:r>
              <a:rPr lang="en-IN" sz="2000" b="1" dirty="0">
                <a:latin typeface="Montserrat" panose="020F0502020204030204" pitchFamily="2" charset="0"/>
              </a:rPr>
              <a:t> </a:t>
            </a:r>
            <a:r>
              <a:rPr lang="en-IN" sz="2000" b="1" dirty="0">
                <a:solidFill>
                  <a:srgbClr val="0070C0"/>
                </a:solidFill>
                <a:latin typeface="Montserrat" panose="020F0502020204030204" pitchFamily="2" charset="0"/>
              </a:rPr>
              <a:t>Technologies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05569E9-5B35-79AB-BE66-71B87F27F5AB}"/>
              </a:ext>
            </a:extLst>
          </p:cNvPr>
          <p:cNvSpPr/>
          <p:nvPr/>
        </p:nvSpPr>
        <p:spPr>
          <a:xfrm>
            <a:off x="8016608" y="1945551"/>
            <a:ext cx="1935480" cy="5716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101600" dist="50800" dir="5400000" algn="ctr" rotWithShape="0">
              <a:schemeClr val="tx1">
                <a:alpha val="55000"/>
              </a:scheme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</a:t>
            </a:r>
            <a:endParaRPr lang="en-IN" b="1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46E1550-507E-490B-FB84-BD2417008706}"/>
              </a:ext>
            </a:extLst>
          </p:cNvPr>
          <p:cNvSpPr/>
          <p:nvPr/>
        </p:nvSpPr>
        <p:spPr>
          <a:xfrm>
            <a:off x="9972122" y="1949909"/>
            <a:ext cx="1936800" cy="57162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outerShdw blurRad="50800" dist="50800" dir="5400000" algn="ctr" rotWithShape="0">
              <a:srgbClr val="000000">
                <a:alpha val="55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Technology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7351955-1406-89B7-C1C9-4AF0AD009E8F}"/>
              </a:ext>
            </a:extLst>
          </p:cNvPr>
          <p:cNvSpPr/>
          <p:nvPr/>
        </p:nvSpPr>
        <p:spPr>
          <a:xfrm>
            <a:off x="8006591" y="2541156"/>
            <a:ext cx="1955514" cy="38404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Backend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E9CA4F1-E05C-1026-7C38-DCB4636025B6}"/>
              </a:ext>
            </a:extLst>
          </p:cNvPr>
          <p:cNvSpPr/>
          <p:nvPr/>
        </p:nvSpPr>
        <p:spPr>
          <a:xfrm>
            <a:off x="9984235" y="2530485"/>
            <a:ext cx="1936800" cy="38404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Aptos Light" panose="020B0004020202020204" pitchFamily="34" charset="0"/>
              </a:rPr>
              <a:t>Python + </a:t>
            </a:r>
            <a:r>
              <a:rPr lang="en-IN" sz="1600" dirty="0" err="1">
                <a:latin typeface="Aptos Light" panose="020B0004020202020204" pitchFamily="34" charset="0"/>
              </a:rPr>
              <a:t>FastAPI</a:t>
            </a:r>
            <a:endParaRPr lang="en-IN" sz="1600" dirty="0">
              <a:latin typeface="Aptos Light" panose="020B0004020202020204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F6CE437-7A23-76AB-095F-17569D577E7A}"/>
              </a:ext>
            </a:extLst>
          </p:cNvPr>
          <p:cNvSpPr/>
          <p:nvPr/>
        </p:nvSpPr>
        <p:spPr>
          <a:xfrm>
            <a:off x="8006592" y="2925204"/>
            <a:ext cx="1955514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Frontend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87210D4-A0AF-1A37-6021-A6BD0E49D801}"/>
              </a:ext>
            </a:extLst>
          </p:cNvPr>
          <p:cNvSpPr/>
          <p:nvPr/>
        </p:nvSpPr>
        <p:spPr>
          <a:xfrm>
            <a:off x="9984236" y="2934683"/>
            <a:ext cx="1936800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>
                <a:latin typeface="Aptos Light" panose="020B0004020202020204" pitchFamily="34" charset="0"/>
              </a:rPr>
              <a:t>React + Vite</a:t>
            </a:r>
            <a:endParaRPr lang="en-IN" dirty="0">
              <a:latin typeface="Aptos Light" panose="020B0004020202020204" pitchFamily="34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B021562-06B8-1130-068B-7C26604D94DA}"/>
              </a:ext>
            </a:extLst>
          </p:cNvPr>
          <p:cNvSpPr/>
          <p:nvPr/>
        </p:nvSpPr>
        <p:spPr>
          <a:xfrm>
            <a:off x="8006592" y="3310404"/>
            <a:ext cx="1955514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Database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987EF77-9829-890D-14A2-DD942BF9CE3F}"/>
              </a:ext>
            </a:extLst>
          </p:cNvPr>
          <p:cNvSpPr/>
          <p:nvPr/>
        </p:nvSpPr>
        <p:spPr>
          <a:xfrm>
            <a:off x="7996574" y="3715576"/>
            <a:ext cx="1955514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Email Analysis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0BFAC81-1D8F-ABF7-BD71-574BEC775BF6}"/>
              </a:ext>
            </a:extLst>
          </p:cNvPr>
          <p:cNvSpPr/>
          <p:nvPr/>
        </p:nvSpPr>
        <p:spPr>
          <a:xfrm>
            <a:off x="7996574" y="4107120"/>
            <a:ext cx="1955514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ML/AI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81EA077-89EE-E0A3-4DDB-36178979F19A}"/>
              </a:ext>
            </a:extLst>
          </p:cNvPr>
          <p:cNvSpPr/>
          <p:nvPr/>
        </p:nvSpPr>
        <p:spPr>
          <a:xfrm>
            <a:off x="7996574" y="4504812"/>
            <a:ext cx="1955514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IP Geolocation</a:t>
            </a:r>
          </a:p>
        </p:txBody>
      </p:sp>
      <p:sp>
        <p:nvSpPr>
          <p:cNvPr id="17408" name="Rectangle: Rounded Corners 17407">
            <a:extLst>
              <a:ext uri="{FF2B5EF4-FFF2-40B4-BE49-F238E27FC236}">
                <a16:creationId xmlns:a16="http://schemas.microsoft.com/office/drawing/2014/main" id="{508648F0-DAE9-7154-1C0A-C5C8A39110DB}"/>
              </a:ext>
            </a:extLst>
          </p:cNvPr>
          <p:cNvSpPr/>
          <p:nvPr/>
        </p:nvSpPr>
        <p:spPr>
          <a:xfrm>
            <a:off x="7996574" y="4911740"/>
            <a:ext cx="1955514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</a:t>
            </a:r>
            <a:r>
              <a:rPr lang="en-IN" b="1" dirty="0"/>
              <a:t>AP</a:t>
            </a:r>
          </a:p>
        </p:txBody>
      </p:sp>
      <p:sp>
        <p:nvSpPr>
          <p:cNvPr id="17411" name="Rectangle: Rounded Corners 17410">
            <a:extLst>
              <a:ext uri="{FF2B5EF4-FFF2-40B4-BE49-F238E27FC236}">
                <a16:creationId xmlns:a16="http://schemas.microsoft.com/office/drawing/2014/main" id="{1BF53A4C-3D70-17DC-11B9-8FAD491E00E9}"/>
              </a:ext>
            </a:extLst>
          </p:cNvPr>
          <p:cNvSpPr/>
          <p:nvPr/>
        </p:nvSpPr>
        <p:spPr>
          <a:xfrm>
            <a:off x="7996574" y="5307927"/>
            <a:ext cx="1955514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</a:t>
            </a:r>
            <a:r>
              <a:rPr lang="en-IN" b="1" dirty="0"/>
              <a:t>EPORTS</a:t>
            </a:r>
          </a:p>
        </p:txBody>
      </p:sp>
      <p:sp>
        <p:nvSpPr>
          <p:cNvPr id="17416" name="Rectangle: Rounded Corners 17415">
            <a:extLst>
              <a:ext uri="{FF2B5EF4-FFF2-40B4-BE49-F238E27FC236}">
                <a16:creationId xmlns:a16="http://schemas.microsoft.com/office/drawing/2014/main" id="{3478177A-7366-D215-067A-EBB8AAEFD9E2}"/>
              </a:ext>
            </a:extLst>
          </p:cNvPr>
          <p:cNvSpPr/>
          <p:nvPr/>
        </p:nvSpPr>
        <p:spPr>
          <a:xfrm>
            <a:off x="9984236" y="3337795"/>
            <a:ext cx="1936800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 Light" panose="020B0004020202020204" pitchFamily="34" charset="0"/>
              </a:rPr>
              <a:t>SQLite / MySQL</a:t>
            </a:r>
          </a:p>
        </p:txBody>
      </p:sp>
      <p:sp>
        <p:nvSpPr>
          <p:cNvPr id="17419" name="Rectangle: Rounded Corners 17418">
            <a:extLst>
              <a:ext uri="{FF2B5EF4-FFF2-40B4-BE49-F238E27FC236}">
                <a16:creationId xmlns:a16="http://schemas.microsoft.com/office/drawing/2014/main" id="{60EB53C7-484F-9724-6173-D6CC18AE939F}"/>
              </a:ext>
            </a:extLst>
          </p:cNvPr>
          <p:cNvSpPr/>
          <p:nvPr/>
        </p:nvSpPr>
        <p:spPr>
          <a:xfrm>
            <a:off x="9972122" y="3729242"/>
            <a:ext cx="1936800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Aptos Light" panose="020B0004020202020204" pitchFamily="34" charset="0"/>
              </a:rPr>
              <a:t>Python libraries</a:t>
            </a:r>
          </a:p>
        </p:txBody>
      </p:sp>
      <p:sp>
        <p:nvSpPr>
          <p:cNvPr id="17421" name="Rectangle: Rounded Corners 17420">
            <a:extLst>
              <a:ext uri="{FF2B5EF4-FFF2-40B4-BE49-F238E27FC236}">
                <a16:creationId xmlns:a16="http://schemas.microsoft.com/office/drawing/2014/main" id="{2A5EB89D-8B78-1002-F94A-BC952CD8076F}"/>
              </a:ext>
            </a:extLst>
          </p:cNvPr>
          <p:cNvSpPr/>
          <p:nvPr/>
        </p:nvSpPr>
        <p:spPr>
          <a:xfrm>
            <a:off x="9972122" y="4122241"/>
            <a:ext cx="1936800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Aptos Light" panose="020B0004020202020204" pitchFamily="34" charset="0"/>
              </a:rPr>
              <a:t>scikit-learn + pre-trained models</a:t>
            </a:r>
          </a:p>
        </p:txBody>
      </p:sp>
      <p:sp>
        <p:nvSpPr>
          <p:cNvPr id="17423" name="Rectangle: Rounded Corners 17422">
            <a:extLst>
              <a:ext uri="{FF2B5EF4-FFF2-40B4-BE49-F238E27FC236}">
                <a16:creationId xmlns:a16="http://schemas.microsoft.com/office/drawing/2014/main" id="{0FC4F185-1BD0-CE45-E6C3-5F332DEEF5FD}"/>
              </a:ext>
            </a:extLst>
          </p:cNvPr>
          <p:cNvSpPr/>
          <p:nvPr/>
        </p:nvSpPr>
        <p:spPr>
          <a:xfrm>
            <a:off x="9972122" y="4526959"/>
            <a:ext cx="1936800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 Light" panose="020B0004020202020204" pitchFamily="34" charset="0"/>
              </a:rPr>
              <a:t>Ipinfo.io FREE API</a:t>
            </a:r>
            <a:endParaRPr lang="en-IN" dirty="0">
              <a:latin typeface="Aptos Light" panose="020B0004020202020204" pitchFamily="34" charset="0"/>
            </a:endParaRPr>
          </a:p>
        </p:txBody>
      </p:sp>
      <p:sp>
        <p:nvSpPr>
          <p:cNvPr id="17425" name="Rectangle: Rounded Corners 17424">
            <a:extLst>
              <a:ext uri="{FF2B5EF4-FFF2-40B4-BE49-F238E27FC236}">
                <a16:creationId xmlns:a16="http://schemas.microsoft.com/office/drawing/2014/main" id="{2D7C94E3-09CE-7810-72CF-DCDCEDB1E0F4}"/>
              </a:ext>
            </a:extLst>
          </p:cNvPr>
          <p:cNvSpPr/>
          <p:nvPr/>
        </p:nvSpPr>
        <p:spPr>
          <a:xfrm>
            <a:off x="9972122" y="4900214"/>
            <a:ext cx="1936800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 Light" panose="020B0004020202020204" pitchFamily="34" charset="0"/>
              </a:rPr>
              <a:t>L</a:t>
            </a:r>
            <a:r>
              <a:rPr lang="en-IN" dirty="0">
                <a:latin typeface="Aptos Light" panose="020B0004020202020204" pitchFamily="34" charset="0"/>
              </a:rPr>
              <a:t>eaflet.js</a:t>
            </a:r>
          </a:p>
        </p:txBody>
      </p:sp>
      <p:sp>
        <p:nvSpPr>
          <p:cNvPr id="17427" name="Rectangle: Rounded Corners 17426">
            <a:extLst>
              <a:ext uri="{FF2B5EF4-FFF2-40B4-BE49-F238E27FC236}">
                <a16:creationId xmlns:a16="http://schemas.microsoft.com/office/drawing/2014/main" id="{0BD54E6A-A3EE-E425-BF54-8EDAB8FC807F}"/>
              </a:ext>
            </a:extLst>
          </p:cNvPr>
          <p:cNvSpPr/>
          <p:nvPr/>
        </p:nvSpPr>
        <p:spPr>
          <a:xfrm>
            <a:off x="9972122" y="5303326"/>
            <a:ext cx="1936800" cy="385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 Light" panose="020B0004020202020204" pitchFamily="34" charset="0"/>
              </a:rPr>
              <a:t>R</a:t>
            </a:r>
            <a:r>
              <a:rPr lang="en-IN" dirty="0" err="1">
                <a:latin typeface="Aptos Light" panose="020B0004020202020204" pitchFamily="34" charset="0"/>
              </a:rPr>
              <a:t>eportLab</a:t>
            </a:r>
            <a:r>
              <a:rPr lang="en-IN" dirty="0">
                <a:latin typeface="Aptos Light" panose="020B0004020202020204" pitchFamily="34" charset="0"/>
              </a:rPr>
              <a:t>(pdf)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A420D34-53F5-0DFE-F4E1-B0F3311ED1DF}"/>
              </a:ext>
            </a:extLst>
          </p:cNvPr>
          <p:cNvSpPr/>
          <p:nvPr/>
        </p:nvSpPr>
        <p:spPr>
          <a:xfrm>
            <a:off x="9878142" y="2687318"/>
            <a:ext cx="249382" cy="202893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68CA8D7-FE7F-CC75-5C8F-E09A88E682A1}"/>
              </a:ext>
            </a:extLst>
          </p:cNvPr>
          <p:cNvSpPr/>
          <p:nvPr/>
        </p:nvSpPr>
        <p:spPr>
          <a:xfrm>
            <a:off x="9883190" y="3025836"/>
            <a:ext cx="249382" cy="202893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CE8D7E9-0486-970F-0463-759C1006A801}"/>
              </a:ext>
            </a:extLst>
          </p:cNvPr>
          <p:cNvSpPr/>
          <p:nvPr/>
        </p:nvSpPr>
        <p:spPr>
          <a:xfrm>
            <a:off x="9883190" y="3394388"/>
            <a:ext cx="249382" cy="202893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E1B3C471-277F-29FC-8204-DBD8FED14629}"/>
              </a:ext>
            </a:extLst>
          </p:cNvPr>
          <p:cNvSpPr/>
          <p:nvPr/>
        </p:nvSpPr>
        <p:spPr>
          <a:xfrm>
            <a:off x="9883190" y="3846586"/>
            <a:ext cx="249382" cy="202893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3385F20B-D8DF-A541-FA0D-668706C123B8}"/>
              </a:ext>
            </a:extLst>
          </p:cNvPr>
          <p:cNvSpPr/>
          <p:nvPr/>
        </p:nvSpPr>
        <p:spPr>
          <a:xfrm>
            <a:off x="9883190" y="4216738"/>
            <a:ext cx="249382" cy="202893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22F358E-73AE-2010-46A9-F815688335FF}"/>
              </a:ext>
            </a:extLst>
          </p:cNvPr>
          <p:cNvSpPr/>
          <p:nvPr/>
        </p:nvSpPr>
        <p:spPr>
          <a:xfrm>
            <a:off x="9827397" y="4604124"/>
            <a:ext cx="249382" cy="202893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C42FEF5A-A7F7-368D-5960-8230D0711F62}"/>
              </a:ext>
            </a:extLst>
          </p:cNvPr>
          <p:cNvSpPr/>
          <p:nvPr/>
        </p:nvSpPr>
        <p:spPr>
          <a:xfrm>
            <a:off x="9837414" y="5031709"/>
            <a:ext cx="249382" cy="202893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9715F130-EA85-611B-218F-AF8454A58616}"/>
              </a:ext>
            </a:extLst>
          </p:cNvPr>
          <p:cNvSpPr/>
          <p:nvPr/>
        </p:nvSpPr>
        <p:spPr>
          <a:xfrm>
            <a:off x="9878142" y="5406325"/>
            <a:ext cx="249382" cy="202893"/>
          </a:xfrm>
          <a:prstGeom prst="rightArrow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525" name="Rounded Rectangle 5">
            <a:extLst>
              <a:ext uri="{FF2B5EF4-FFF2-40B4-BE49-F238E27FC236}">
                <a16:creationId xmlns:a16="http://schemas.microsoft.com/office/drawing/2014/main" id="{2E74E3C3-DBE0-ABD7-6B6D-DF26AEBE7710}"/>
              </a:ext>
            </a:extLst>
          </p:cNvPr>
          <p:cNvSpPr/>
          <p:nvPr/>
        </p:nvSpPr>
        <p:spPr>
          <a:xfrm>
            <a:off x="3314953" y="912435"/>
            <a:ext cx="4059936" cy="896112"/>
          </a:xfrm>
          <a:prstGeom prst="roundRect">
            <a:avLst/>
          </a:prstGeom>
          <a:solidFill>
            <a:srgbClr val="F5F9FF"/>
          </a:solidFill>
          <a:ln w="27940">
            <a:solidFill>
              <a:srgbClr val="2D7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7" name="Down Arrow 11">
            <a:extLst>
              <a:ext uri="{FF2B5EF4-FFF2-40B4-BE49-F238E27FC236}">
                <a16:creationId xmlns:a16="http://schemas.microsoft.com/office/drawing/2014/main" id="{B0847D48-EC47-C198-3AAA-CD503680A881}"/>
              </a:ext>
            </a:extLst>
          </p:cNvPr>
          <p:cNvSpPr/>
          <p:nvPr/>
        </p:nvSpPr>
        <p:spPr>
          <a:xfrm>
            <a:off x="5148093" y="1859063"/>
            <a:ext cx="447351" cy="305659"/>
          </a:xfrm>
          <a:prstGeom prst="downArrow">
            <a:avLst/>
          </a:prstGeom>
          <a:solidFill>
            <a:srgbClr val="7D8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9" name="Rounded Rectangle 12">
            <a:extLst>
              <a:ext uri="{FF2B5EF4-FFF2-40B4-BE49-F238E27FC236}">
                <a16:creationId xmlns:a16="http://schemas.microsoft.com/office/drawing/2014/main" id="{8E251A9D-FE0E-5DB5-2714-E924E66C4CCF}"/>
              </a:ext>
            </a:extLst>
          </p:cNvPr>
          <p:cNvSpPr/>
          <p:nvPr/>
        </p:nvSpPr>
        <p:spPr>
          <a:xfrm>
            <a:off x="3344449" y="2218651"/>
            <a:ext cx="4059936" cy="1627632"/>
          </a:xfrm>
          <a:prstGeom prst="roundRect">
            <a:avLst/>
          </a:prstGeom>
          <a:solidFill>
            <a:srgbClr val="FCF7FF"/>
          </a:solidFill>
          <a:ln w="27940">
            <a:solidFill>
              <a:srgbClr val="AB4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7" name="TextBox 17546">
            <a:extLst>
              <a:ext uri="{FF2B5EF4-FFF2-40B4-BE49-F238E27FC236}">
                <a16:creationId xmlns:a16="http://schemas.microsoft.com/office/drawing/2014/main" id="{FA14D33F-BFBC-081E-3733-A3CA98FDBAEF}"/>
              </a:ext>
            </a:extLst>
          </p:cNvPr>
          <p:cNvSpPr txBox="1"/>
          <p:nvPr/>
        </p:nvSpPr>
        <p:spPr>
          <a:xfrm>
            <a:off x="3545617" y="2556968"/>
            <a:ext cx="136447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>
                <a:solidFill>
                  <a:srgbClr val="AB41F5"/>
                </a:solidFill>
                <a:latin typeface="Aptos"/>
              </a:rPr>
              <a:t>NLP Engine</a:t>
            </a:r>
          </a:p>
        </p:txBody>
      </p:sp>
      <p:sp>
        <p:nvSpPr>
          <p:cNvPr id="17549" name="TextBox 17548">
            <a:extLst>
              <a:ext uri="{FF2B5EF4-FFF2-40B4-BE49-F238E27FC236}">
                <a16:creationId xmlns:a16="http://schemas.microsoft.com/office/drawing/2014/main" id="{14F4C272-203D-8D15-7379-E7E1CF9E758E}"/>
              </a:ext>
            </a:extLst>
          </p:cNvPr>
          <p:cNvSpPr txBox="1"/>
          <p:nvPr/>
        </p:nvSpPr>
        <p:spPr>
          <a:xfrm>
            <a:off x="3545617" y="2847011"/>
            <a:ext cx="1967783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696970"/>
                </a:solidFill>
                <a:latin typeface="Aptos"/>
              </a:rPr>
              <a:t>• Phishing detection
• Classify email</a:t>
            </a:r>
          </a:p>
        </p:txBody>
      </p:sp>
      <p:sp>
        <p:nvSpPr>
          <p:cNvPr id="17551" name="TextBox 17550">
            <a:extLst>
              <a:ext uri="{FF2B5EF4-FFF2-40B4-BE49-F238E27FC236}">
                <a16:creationId xmlns:a16="http://schemas.microsoft.com/office/drawing/2014/main" id="{51D7CD51-DB7D-E888-1B3F-3EB0D049F118}"/>
              </a:ext>
            </a:extLst>
          </p:cNvPr>
          <p:cNvSpPr txBox="1"/>
          <p:nvPr/>
        </p:nvSpPr>
        <p:spPr>
          <a:xfrm>
            <a:off x="3556692" y="3349115"/>
            <a:ext cx="131491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696970"/>
                </a:solidFill>
                <a:latin typeface="Aptos"/>
              </a:rPr>
              <a:t>• scikit-learn</a:t>
            </a:r>
          </a:p>
        </p:txBody>
      </p:sp>
      <p:sp>
        <p:nvSpPr>
          <p:cNvPr id="17555" name="TextBox 17554">
            <a:extLst>
              <a:ext uri="{FF2B5EF4-FFF2-40B4-BE49-F238E27FC236}">
                <a16:creationId xmlns:a16="http://schemas.microsoft.com/office/drawing/2014/main" id="{AD538BC3-A72D-06AB-AC23-B44404F0BD6F}"/>
              </a:ext>
            </a:extLst>
          </p:cNvPr>
          <p:cNvSpPr txBox="1"/>
          <p:nvPr/>
        </p:nvSpPr>
        <p:spPr>
          <a:xfrm>
            <a:off x="5493289" y="2856487"/>
            <a:ext cx="1474186" cy="8309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696970"/>
                </a:solidFill>
                <a:latin typeface="Aptos"/>
              </a:rPr>
              <a:t>• SPF/DKIM
• IP → Location
• ipinfo.io</a:t>
            </a:r>
          </a:p>
        </p:txBody>
      </p:sp>
      <p:sp>
        <p:nvSpPr>
          <p:cNvPr id="17557" name="Down Arrow 21">
            <a:extLst>
              <a:ext uri="{FF2B5EF4-FFF2-40B4-BE49-F238E27FC236}">
                <a16:creationId xmlns:a16="http://schemas.microsoft.com/office/drawing/2014/main" id="{B8BAA960-2308-0B1A-4EA5-2D460F5F213C}"/>
              </a:ext>
            </a:extLst>
          </p:cNvPr>
          <p:cNvSpPr/>
          <p:nvPr/>
        </p:nvSpPr>
        <p:spPr>
          <a:xfrm>
            <a:off x="5168490" y="3902500"/>
            <a:ext cx="406555" cy="287540"/>
          </a:xfrm>
          <a:prstGeom prst="downArrow">
            <a:avLst/>
          </a:prstGeom>
          <a:solidFill>
            <a:srgbClr val="7D8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9" name="Rounded Rectangle 22">
            <a:extLst>
              <a:ext uri="{FF2B5EF4-FFF2-40B4-BE49-F238E27FC236}">
                <a16:creationId xmlns:a16="http://schemas.microsoft.com/office/drawing/2014/main" id="{788DF83B-571D-3C29-9C3F-AB5DD37FEE25}"/>
              </a:ext>
            </a:extLst>
          </p:cNvPr>
          <p:cNvSpPr/>
          <p:nvPr/>
        </p:nvSpPr>
        <p:spPr>
          <a:xfrm>
            <a:off x="3344449" y="4202700"/>
            <a:ext cx="4059936" cy="914400"/>
          </a:xfrm>
          <a:prstGeom prst="roundRect">
            <a:avLst/>
          </a:prstGeom>
          <a:solidFill>
            <a:srgbClr val="FFFCF1"/>
          </a:solidFill>
          <a:ln w="27940">
            <a:solidFill>
              <a:srgbClr val="F2BE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7" name="Rounded Rectangle 26">
            <a:extLst>
              <a:ext uri="{FF2B5EF4-FFF2-40B4-BE49-F238E27FC236}">
                <a16:creationId xmlns:a16="http://schemas.microsoft.com/office/drawing/2014/main" id="{51A37A9B-BF19-F9C4-D713-093985A7F538}"/>
              </a:ext>
            </a:extLst>
          </p:cNvPr>
          <p:cNvSpPr/>
          <p:nvPr/>
        </p:nvSpPr>
        <p:spPr>
          <a:xfrm>
            <a:off x="6618001" y="4760484"/>
            <a:ext cx="621792" cy="274320"/>
          </a:xfrm>
          <a:prstGeom prst="roundRect">
            <a:avLst/>
          </a:prstGeom>
          <a:solidFill>
            <a:srgbClr val="FFF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9" name="TextBox 17568">
            <a:extLst>
              <a:ext uri="{FF2B5EF4-FFF2-40B4-BE49-F238E27FC236}">
                <a16:creationId xmlns:a16="http://schemas.microsoft.com/office/drawing/2014/main" id="{08BAAAAC-DB2F-488C-C5CE-1605184629AE}"/>
              </a:ext>
            </a:extLst>
          </p:cNvPr>
          <p:cNvSpPr txBox="1"/>
          <p:nvPr/>
        </p:nvSpPr>
        <p:spPr>
          <a:xfrm>
            <a:off x="6618001" y="4765056"/>
            <a:ext cx="621792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F2BE0F"/>
                </a:solidFill>
                <a:latin typeface="Aptos"/>
              </a:rPr>
              <a:t>MySQL</a:t>
            </a:r>
          </a:p>
        </p:txBody>
      </p:sp>
      <p:sp>
        <p:nvSpPr>
          <p:cNvPr id="17573" name="Rounded Rectangle 29">
            <a:extLst>
              <a:ext uri="{FF2B5EF4-FFF2-40B4-BE49-F238E27FC236}">
                <a16:creationId xmlns:a16="http://schemas.microsoft.com/office/drawing/2014/main" id="{0A7CFF36-8656-4992-5E0B-2634D5336D8F}"/>
              </a:ext>
            </a:extLst>
          </p:cNvPr>
          <p:cNvSpPr/>
          <p:nvPr/>
        </p:nvSpPr>
        <p:spPr>
          <a:xfrm>
            <a:off x="3344449" y="5403809"/>
            <a:ext cx="4059936" cy="914400"/>
          </a:xfrm>
          <a:prstGeom prst="roundRect">
            <a:avLst/>
          </a:prstGeom>
          <a:solidFill>
            <a:srgbClr val="F4FDF8"/>
          </a:solidFill>
          <a:ln w="27940">
            <a:solidFill>
              <a:srgbClr val="23C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5" name="Rounded Rectangle 35">
            <a:extLst>
              <a:ext uri="{FF2B5EF4-FFF2-40B4-BE49-F238E27FC236}">
                <a16:creationId xmlns:a16="http://schemas.microsoft.com/office/drawing/2014/main" id="{5E8C1134-2D02-66EE-8D14-4F3EC367E40C}"/>
              </a:ext>
            </a:extLst>
          </p:cNvPr>
          <p:cNvSpPr/>
          <p:nvPr/>
        </p:nvSpPr>
        <p:spPr>
          <a:xfrm>
            <a:off x="6618001" y="5952449"/>
            <a:ext cx="658368" cy="274320"/>
          </a:xfrm>
          <a:prstGeom prst="roundRect">
            <a:avLst/>
          </a:prstGeom>
          <a:solidFill>
            <a:srgbClr val="E2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87" name="TextBox 17586">
            <a:extLst>
              <a:ext uri="{FF2B5EF4-FFF2-40B4-BE49-F238E27FC236}">
                <a16:creationId xmlns:a16="http://schemas.microsoft.com/office/drawing/2014/main" id="{D14396FE-407B-4CC6-2724-76972806AA21}"/>
              </a:ext>
            </a:extLst>
          </p:cNvPr>
          <p:cNvSpPr txBox="1"/>
          <p:nvPr/>
        </p:nvSpPr>
        <p:spPr>
          <a:xfrm>
            <a:off x="6618001" y="5957021"/>
            <a:ext cx="658368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1">
                <a:solidFill>
                  <a:srgbClr val="23CD69"/>
                </a:solidFill>
                <a:latin typeface="Aptos"/>
              </a:rPr>
              <a:t>React.js</a:t>
            </a:r>
          </a:p>
        </p:txBody>
      </p:sp>
      <p:sp>
        <p:nvSpPr>
          <p:cNvPr id="17589" name="Rounded Rectangle 14">
            <a:extLst>
              <a:ext uri="{FF2B5EF4-FFF2-40B4-BE49-F238E27FC236}">
                <a16:creationId xmlns:a16="http://schemas.microsoft.com/office/drawing/2014/main" id="{0086F844-AF6B-D5CE-EA7E-F4EA2358D68D}"/>
              </a:ext>
            </a:extLst>
          </p:cNvPr>
          <p:cNvSpPr/>
          <p:nvPr/>
        </p:nvSpPr>
        <p:spPr>
          <a:xfrm>
            <a:off x="4678679" y="854982"/>
            <a:ext cx="1417320" cy="33832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rgbClr val="0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  <a:endParaRPr dirty="0"/>
          </a:p>
        </p:txBody>
      </p:sp>
      <p:sp>
        <p:nvSpPr>
          <p:cNvPr id="17591" name="Rounded Rectangle 14">
            <a:extLst>
              <a:ext uri="{FF2B5EF4-FFF2-40B4-BE49-F238E27FC236}">
                <a16:creationId xmlns:a16="http://schemas.microsoft.com/office/drawing/2014/main" id="{7EC53F78-6FA7-E3C2-BA46-64E2ADDAA66C}"/>
              </a:ext>
            </a:extLst>
          </p:cNvPr>
          <p:cNvSpPr/>
          <p:nvPr/>
        </p:nvSpPr>
        <p:spPr>
          <a:xfrm>
            <a:off x="4647469" y="4141542"/>
            <a:ext cx="1417320" cy="33832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</a:rPr>
              <a:t>DATABASE</a:t>
            </a:r>
          </a:p>
        </p:txBody>
      </p:sp>
      <p:sp>
        <p:nvSpPr>
          <p:cNvPr id="17593" name="Rounded Rectangle 14">
            <a:extLst>
              <a:ext uri="{FF2B5EF4-FFF2-40B4-BE49-F238E27FC236}">
                <a16:creationId xmlns:a16="http://schemas.microsoft.com/office/drawing/2014/main" id="{4050E9EE-841B-1767-68B7-F3A887CCD75D}"/>
              </a:ext>
            </a:extLst>
          </p:cNvPr>
          <p:cNvSpPr/>
          <p:nvPr/>
        </p:nvSpPr>
        <p:spPr>
          <a:xfrm>
            <a:off x="4322857" y="2161957"/>
            <a:ext cx="2100092" cy="3383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0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PROCESSSING</a:t>
            </a:r>
            <a:endParaRPr dirty="0"/>
          </a:p>
        </p:txBody>
      </p:sp>
      <p:sp>
        <p:nvSpPr>
          <p:cNvPr id="17595" name="Down Arrow 21">
            <a:extLst>
              <a:ext uri="{FF2B5EF4-FFF2-40B4-BE49-F238E27FC236}">
                <a16:creationId xmlns:a16="http://schemas.microsoft.com/office/drawing/2014/main" id="{6F78954A-00A2-216D-9D5F-0B8CB47DDC53}"/>
              </a:ext>
            </a:extLst>
          </p:cNvPr>
          <p:cNvSpPr/>
          <p:nvPr/>
        </p:nvSpPr>
        <p:spPr>
          <a:xfrm>
            <a:off x="5171137" y="5133364"/>
            <a:ext cx="403908" cy="290177"/>
          </a:xfrm>
          <a:prstGeom prst="downArrow">
            <a:avLst/>
          </a:prstGeom>
          <a:solidFill>
            <a:srgbClr val="7D8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97" name="Rounded Rectangle 14">
            <a:extLst>
              <a:ext uri="{FF2B5EF4-FFF2-40B4-BE49-F238E27FC236}">
                <a16:creationId xmlns:a16="http://schemas.microsoft.com/office/drawing/2014/main" id="{0EF8B94C-7AF8-C7C0-64D1-A7F015DC1F13}"/>
              </a:ext>
            </a:extLst>
          </p:cNvPr>
          <p:cNvSpPr/>
          <p:nvPr/>
        </p:nvSpPr>
        <p:spPr>
          <a:xfrm>
            <a:off x="4647469" y="5336724"/>
            <a:ext cx="1417320" cy="338328"/>
          </a:xfrm>
          <a:prstGeom prst="roundRect">
            <a:avLst/>
          </a:prstGeom>
          <a:solidFill>
            <a:srgbClr val="007A37"/>
          </a:solidFill>
          <a:ln>
            <a:solidFill>
              <a:srgbClr val="0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Aptos"/>
              </a:rPr>
              <a:t>OUTPUT</a:t>
            </a:r>
          </a:p>
        </p:txBody>
      </p:sp>
      <p:sp>
        <p:nvSpPr>
          <p:cNvPr id="17598" name="TextBox 17597">
            <a:extLst>
              <a:ext uri="{FF2B5EF4-FFF2-40B4-BE49-F238E27FC236}">
                <a16:creationId xmlns:a16="http://schemas.microsoft.com/office/drawing/2014/main" id="{B8F67374-4AB9-AA49-A47A-EF1F320FA52B}"/>
              </a:ext>
            </a:extLst>
          </p:cNvPr>
          <p:cNvSpPr txBox="1"/>
          <p:nvPr/>
        </p:nvSpPr>
        <p:spPr>
          <a:xfrm>
            <a:off x="3442595" y="1258317"/>
            <a:ext cx="37541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696970"/>
                </a:solidFill>
                <a:latin typeface="Aptos"/>
              </a:rPr>
              <a:t>Email Upload  •  Headers  •  Body + URLs</a:t>
            </a:r>
          </a:p>
        </p:txBody>
      </p:sp>
      <p:sp>
        <p:nvSpPr>
          <p:cNvPr id="17599" name="TextBox 17598">
            <a:extLst>
              <a:ext uri="{FF2B5EF4-FFF2-40B4-BE49-F238E27FC236}">
                <a16:creationId xmlns:a16="http://schemas.microsoft.com/office/drawing/2014/main" id="{FC9AC4D2-2E85-D754-5218-8F3B186C563A}"/>
              </a:ext>
            </a:extLst>
          </p:cNvPr>
          <p:cNvSpPr txBox="1"/>
          <p:nvPr/>
        </p:nvSpPr>
        <p:spPr>
          <a:xfrm>
            <a:off x="3383071" y="4514562"/>
            <a:ext cx="3866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696970"/>
                </a:solidFill>
                <a:latin typeface="Aptos"/>
              </a:rPr>
              <a:t>• Email Cases  • Analysis Logs  • Evidence</a:t>
            </a:r>
          </a:p>
        </p:txBody>
      </p:sp>
      <p:sp>
        <p:nvSpPr>
          <p:cNvPr id="17600" name="TextBox 17599">
            <a:extLst>
              <a:ext uri="{FF2B5EF4-FFF2-40B4-BE49-F238E27FC236}">
                <a16:creationId xmlns:a16="http://schemas.microsoft.com/office/drawing/2014/main" id="{543E4754-2000-A449-6366-0026A394F30D}"/>
              </a:ext>
            </a:extLst>
          </p:cNvPr>
          <p:cNvSpPr txBox="1"/>
          <p:nvPr/>
        </p:nvSpPr>
        <p:spPr>
          <a:xfrm>
            <a:off x="3601037" y="5693088"/>
            <a:ext cx="3625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rgbClr val="696970"/>
                </a:solidFill>
                <a:latin typeface="Aptos"/>
              </a:rPr>
              <a:t>• Fraud Score  • Geo Map  • PDF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 rot="10800000" flipV="1">
            <a:off x="1427480" y="404085"/>
            <a:ext cx="8732520" cy="636840"/>
          </a:xfrm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chemeClr val="accent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FEASIBILITY,RISKS&amp;MITIGATION  STRATEGIES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72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7B58024-4702-6124-D187-56E649F1C3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76203"/>
            <a:ext cx="1655064" cy="80162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Web Innovators</a:t>
            </a:r>
            <a:endParaRPr lang="en-IN" dirty="0"/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1A378BE8-02BD-A1E7-C7BC-EB59D0655CDA}"/>
              </a:ext>
            </a:extLst>
          </p:cNvPr>
          <p:cNvSpPr/>
          <p:nvPr/>
        </p:nvSpPr>
        <p:spPr>
          <a:xfrm>
            <a:off x="4335779" y="1388984"/>
            <a:ext cx="3520440" cy="46177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AE2E71-80C7-A9DC-239E-79ED6B7E12F6}"/>
              </a:ext>
            </a:extLst>
          </p:cNvPr>
          <p:cNvSpPr/>
          <p:nvPr/>
        </p:nvSpPr>
        <p:spPr>
          <a:xfrm>
            <a:off x="364469" y="1388984"/>
            <a:ext cx="3520440" cy="4617720"/>
          </a:xfrm>
          <a:prstGeom prst="roundRect">
            <a:avLst/>
          </a:prstGeom>
          <a:solidFill>
            <a:srgbClr val="D8E3F2"/>
          </a:solidFill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8B832AEF-5293-E7D7-EEB3-75137E05B3B5}"/>
              </a:ext>
            </a:extLst>
          </p:cNvPr>
          <p:cNvSpPr/>
          <p:nvPr/>
        </p:nvSpPr>
        <p:spPr>
          <a:xfrm>
            <a:off x="8307089" y="1400439"/>
            <a:ext cx="3520440" cy="4617720"/>
          </a:xfrm>
          <a:prstGeom prst="roundRect">
            <a:avLst/>
          </a:prstGeom>
          <a:solidFill>
            <a:srgbClr val="EEFCF4"/>
          </a:solidFill>
          <a:ln w="25400">
            <a:solidFill>
              <a:srgbClr val="14A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C7B436A5-0FFF-CA02-2C36-454D7650D0AD}"/>
              </a:ext>
            </a:extLst>
          </p:cNvPr>
          <p:cNvSpPr/>
          <p:nvPr/>
        </p:nvSpPr>
        <p:spPr>
          <a:xfrm>
            <a:off x="1416029" y="1231275"/>
            <a:ext cx="1417320" cy="338328"/>
          </a:xfrm>
          <a:prstGeom prst="roundRect">
            <a:avLst/>
          </a:prstGeom>
          <a:solidFill>
            <a:srgbClr val="0A78BE"/>
          </a:solidFill>
          <a:ln>
            <a:solidFill>
              <a:srgbClr val="0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2A81C7C2-DC2A-3481-9408-A42C75D9472C}"/>
              </a:ext>
            </a:extLst>
          </p:cNvPr>
          <p:cNvSpPr/>
          <p:nvPr/>
        </p:nvSpPr>
        <p:spPr>
          <a:xfrm>
            <a:off x="5387339" y="1231275"/>
            <a:ext cx="1417320" cy="3383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dirty="0"/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7ABB8D5C-EB10-D88B-5F33-9D6734F90A06}"/>
              </a:ext>
            </a:extLst>
          </p:cNvPr>
          <p:cNvSpPr/>
          <p:nvPr/>
        </p:nvSpPr>
        <p:spPr>
          <a:xfrm>
            <a:off x="9358651" y="1274346"/>
            <a:ext cx="1417320" cy="338328"/>
          </a:xfrm>
          <a:prstGeom prst="roundRect">
            <a:avLst/>
          </a:prstGeom>
          <a:solidFill>
            <a:srgbClr val="007A37"/>
          </a:solidFill>
          <a:ln>
            <a:solidFill>
              <a:srgbClr val="0A7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85BA5C-3DF7-06C1-0585-A95C97F512D8}"/>
              </a:ext>
            </a:extLst>
          </p:cNvPr>
          <p:cNvSpPr/>
          <p:nvPr/>
        </p:nvSpPr>
        <p:spPr>
          <a:xfrm>
            <a:off x="364469" y="2240772"/>
            <a:ext cx="3429000" cy="16459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71AF3D-8377-6310-6576-F0DFB97D5F84}"/>
              </a:ext>
            </a:extLst>
          </p:cNvPr>
          <p:cNvSpPr/>
          <p:nvPr/>
        </p:nvSpPr>
        <p:spPr>
          <a:xfrm>
            <a:off x="4381499" y="2240771"/>
            <a:ext cx="3429000" cy="16459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85C92B-CB06-531D-6540-10C212D140D1}"/>
              </a:ext>
            </a:extLst>
          </p:cNvPr>
          <p:cNvSpPr/>
          <p:nvPr/>
        </p:nvSpPr>
        <p:spPr>
          <a:xfrm>
            <a:off x="8352809" y="2261055"/>
            <a:ext cx="3429000" cy="16459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CA14F9-96B3-EF6C-1FCC-D6163BAB47CD}"/>
              </a:ext>
            </a:extLst>
          </p:cNvPr>
          <p:cNvSpPr txBox="1"/>
          <p:nvPr/>
        </p:nvSpPr>
        <p:spPr>
          <a:xfrm>
            <a:off x="861844" y="1750018"/>
            <a:ext cx="2603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F0F0F"/>
                </a:solidFill>
                <a:latin typeface="Aptos"/>
              </a:rPr>
              <a:t>FEASIBILITY PILLARS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6017A3-BFCD-FA3A-9F42-62D261FA245E}"/>
              </a:ext>
            </a:extLst>
          </p:cNvPr>
          <p:cNvSpPr txBox="1"/>
          <p:nvPr/>
        </p:nvSpPr>
        <p:spPr>
          <a:xfrm>
            <a:off x="4648200" y="1612674"/>
            <a:ext cx="2912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0F0F0F"/>
                </a:solidFill>
                <a:latin typeface="Aptos"/>
              </a:rPr>
              <a:t>POTENTIAL RISKS
&amp; CHALLENGES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305A63-AEAA-E88D-01D9-0C7036F8896F}"/>
              </a:ext>
            </a:extLst>
          </p:cNvPr>
          <p:cNvSpPr txBox="1"/>
          <p:nvPr/>
        </p:nvSpPr>
        <p:spPr>
          <a:xfrm>
            <a:off x="8737600" y="1631790"/>
            <a:ext cx="284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F0F0F"/>
                </a:solidFill>
                <a:latin typeface="Aptos"/>
              </a:rPr>
              <a:t>MITIGATION
STRATEGIES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2564115-E348-7E21-F650-F036F9142BC0}"/>
              </a:ext>
            </a:extLst>
          </p:cNvPr>
          <p:cNvSpPr/>
          <p:nvPr/>
        </p:nvSpPr>
        <p:spPr>
          <a:xfrm>
            <a:off x="621792" y="2542032"/>
            <a:ext cx="402336" cy="402336"/>
          </a:xfrm>
          <a:prstGeom prst="ellipse">
            <a:avLst/>
          </a:prstGeom>
          <a:solidFill>
            <a:srgbClr val="0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606E9C-02E5-130D-4083-2F165F5A27EC}"/>
              </a:ext>
            </a:extLst>
          </p:cNvPr>
          <p:cNvSpPr txBox="1"/>
          <p:nvPr/>
        </p:nvSpPr>
        <p:spPr>
          <a:xfrm>
            <a:off x="649224" y="2587752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309B9D-04C2-F5FA-E9DE-90CB3B43E608}"/>
              </a:ext>
            </a:extLst>
          </p:cNvPr>
          <p:cNvSpPr txBox="1"/>
          <p:nvPr/>
        </p:nvSpPr>
        <p:spPr>
          <a:xfrm>
            <a:off x="1143000" y="2428435"/>
            <a:ext cx="2084831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0F0F0F"/>
                </a:solidFill>
                <a:latin typeface="Aptos"/>
              </a:rPr>
              <a:t>Zero-Hardware
Deployment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A3D2396-91F0-9033-4DFE-F4996E465E99}"/>
              </a:ext>
            </a:extLst>
          </p:cNvPr>
          <p:cNvSpPr/>
          <p:nvPr/>
        </p:nvSpPr>
        <p:spPr>
          <a:xfrm>
            <a:off x="621792" y="3511297"/>
            <a:ext cx="402336" cy="402336"/>
          </a:xfrm>
          <a:prstGeom prst="ellipse">
            <a:avLst/>
          </a:prstGeom>
          <a:solidFill>
            <a:srgbClr val="0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656199-4086-6CAA-EDDA-82A50BD9EA2C}"/>
              </a:ext>
            </a:extLst>
          </p:cNvPr>
          <p:cNvSpPr txBox="1"/>
          <p:nvPr/>
        </p:nvSpPr>
        <p:spPr>
          <a:xfrm>
            <a:off x="636043" y="3538727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E997F2-EDF3-A53D-190F-CA362816DF1C}"/>
              </a:ext>
            </a:extLst>
          </p:cNvPr>
          <p:cNvSpPr txBox="1"/>
          <p:nvPr/>
        </p:nvSpPr>
        <p:spPr>
          <a:xfrm>
            <a:off x="1143000" y="3409258"/>
            <a:ext cx="2084831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0F0F0F"/>
                </a:solidFill>
                <a:latin typeface="Aptos"/>
              </a:rPr>
              <a:t>Scalable
Microservices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C1A1A6F-167D-5084-94BD-890C657A84C3}"/>
              </a:ext>
            </a:extLst>
          </p:cNvPr>
          <p:cNvSpPr/>
          <p:nvPr/>
        </p:nvSpPr>
        <p:spPr>
          <a:xfrm>
            <a:off x="621792" y="4517136"/>
            <a:ext cx="402336" cy="402336"/>
          </a:xfrm>
          <a:prstGeom prst="ellipse">
            <a:avLst/>
          </a:prstGeom>
          <a:solidFill>
            <a:srgbClr val="0A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04D282-6A5A-E6B0-F1A3-577394EDECC4}"/>
              </a:ext>
            </a:extLst>
          </p:cNvPr>
          <p:cNvSpPr txBox="1"/>
          <p:nvPr/>
        </p:nvSpPr>
        <p:spPr>
          <a:xfrm>
            <a:off x="649224" y="4526280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6CF908-C8B6-0CB2-B205-F1ADE59A07D3}"/>
              </a:ext>
            </a:extLst>
          </p:cNvPr>
          <p:cNvSpPr txBox="1"/>
          <p:nvPr/>
        </p:nvSpPr>
        <p:spPr>
          <a:xfrm>
            <a:off x="1133094" y="4404089"/>
            <a:ext cx="2084831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0F0F0F"/>
                </a:solidFill>
                <a:latin typeface="Aptos"/>
              </a:rPr>
              <a:t>Cost-Effective
Open Stack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D013633-B3BB-ED66-4D7D-F8ACB539AB1A}"/>
              </a:ext>
            </a:extLst>
          </p:cNvPr>
          <p:cNvSpPr/>
          <p:nvPr/>
        </p:nvSpPr>
        <p:spPr>
          <a:xfrm>
            <a:off x="4632862" y="2504869"/>
            <a:ext cx="402336" cy="402336"/>
          </a:xfrm>
          <a:prstGeom prst="ellipse">
            <a:avLst/>
          </a:prstGeom>
          <a:solidFill>
            <a:srgbClr val="BE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5462B7-7B11-0889-CCBA-032A458B0F33}"/>
              </a:ext>
            </a:extLst>
          </p:cNvPr>
          <p:cNvSpPr txBox="1"/>
          <p:nvPr/>
        </p:nvSpPr>
        <p:spPr>
          <a:xfrm>
            <a:off x="5138928" y="2454288"/>
            <a:ext cx="212140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ptos"/>
              </a:rPr>
              <a:t>VPN &amp; Tor
Cloaking</a:t>
            </a:r>
          </a:p>
        </p:txBody>
      </p:sp>
      <p:sp>
        <p:nvSpPr>
          <p:cNvPr id="17408" name="Rectangle 17407">
            <a:extLst>
              <a:ext uri="{FF2B5EF4-FFF2-40B4-BE49-F238E27FC236}">
                <a16:creationId xmlns:a16="http://schemas.microsoft.com/office/drawing/2014/main" id="{4957912F-1425-8A3E-9EBE-36B55D52B4A9}"/>
              </a:ext>
            </a:extLst>
          </p:cNvPr>
          <p:cNvSpPr/>
          <p:nvPr/>
        </p:nvSpPr>
        <p:spPr>
          <a:xfrm>
            <a:off x="4645152" y="3264545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>
            <a:extLst>
              <a:ext uri="{FF2B5EF4-FFF2-40B4-BE49-F238E27FC236}">
                <a16:creationId xmlns:a16="http://schemas.microsoft.com/office/drawing/2014/main" id="{CB96BE35-9424-1C60-9725-AF0308237502}"/>
              </a:ext>
            </a:extLst>
          </p:cNvPr>
          <p:cNvSpPr txBox="1"/>
          <p:nvPr/>
        </p:nvSpPr>
        <p:spPr>
          <a:xfrm>
            <a:off x="5138928" y="3449156"/>
            <a:ext cx="212140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0F0F0F"/>
                </a:solidFill>
                <a:latin typeface="Aptos"/>
              </a:rPr>
              <a:t>Privacy &amp; PII
Leakage</a:t>
            </a:r>
          </a:p>
        </p:txBody>
      </p:sp>
      <p:sp>
        <p:nvSpPr>
          <p:cNvPr id="17421" name="Rectangle 17420">
            <a:extLst>
              <a:ext uri="{FF2B5EF4-FFF2-40B4-BE49-F238E27FC236}">
                <a16:creationId xmlns:a16="http://schemas.microsoft.com/office/drawing/2014/main" id="{13531EFE-918D-D08A-EC8D-7C9838E83CF6}"/>
              </a:ext>
            </a:extLst>
          </p:cNvPr>
          <p:cNvSpPr/>
          <p:nvPr/>
        </p:nvSpPr>
        <p:spPr>
          <a:xfrm>
            <a:off x="4653214" y="4261104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>
            <a:extLst>
              <a:ext uri="{FF2B5EF4-FFF2-40B4-BE49-F238E27FC236}">
                <a16:creationId xmlns:a16="http://schemas.microsoft.com/office/drawing/2014/main" id="{DF198185-3935-9A2C-3B2B-1BBFE7AB1410}"/>
              </a:ext>
            </a:extLst>
          </p:cNvPr>
          <p:cNvSpPr/>
          <p:nvPr/>
        </p:nvSpPr>
        <p:spPr>
          <a:xfrm>
            <a:off x="4584660" y="3541558"/>
            <a:ext cx="525896" cy="488543"/>
          </a:xfrm>
          <a:prstGeom prst="ellipse">
            <a:avLst/>
          </a:prstGeom>
          <a:solidFill>
            <a:srgbClr val="BE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>
            <a:extLst>
              <a:ext uri="{FF2B5EF4-FFF2-40B4-BE49-F238E27FC236}">
                <a16:creationId xmlns:a16="http://schemas.microsoft.com/office/drawing/2014/main" id="{BDF6BC79-BE40-BD86-B0C0-B2707DB02587}"/>
              </a:ext>
            </a:extLst>
          </p:cNvPr>
          <p:cNvSpPr/>
          <p:nvPr/>
        </p:nvSpPr>
        <p:spPr>
          <a:xfrm>
            <a:off x="4617720" y="4533768"/>
            <a:ext cx="402336" cy="402336"/>
          </a:xfrm>
          <a:prstGeom prst="ellipse">
            <a:avLst/>
          </a:prstGeom>
          <a:solidFill>
            <a:srgbClr val="BE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>
            <a:extLst>
              <a:ext uri="{FF2B5EF4-FFF2-40B4-BE49-F238E27FC236}">
                <a16:creationId xmlns:a16="http://schemas.microsoft.com/office/drawing/2014/main" id="{0C547FC7-F6B2-0F91-7FA6-8ABB67AD7653}"/>
              </a:ext>
            </a:extLst>
          </p:cNvPr>
          <p:cNvSpPr txBox="1"/>
          <p:nvPr/>
        </p:nvSpPr>
        <p:spPr>
          <a:xfrm>
            <a:off x="4645152" y="4562856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7A43C667-9516-F678-C7BF-8B02FBFD1707}"/>
              </a:ext>
            </a:extLst>
          </p:cNvPr>
          <p:cNvSpPr txBox="1"/>
          <p:nvPr/>
        </p:nvSpPr>
        <p:spPr>
          <a:xfrm>
            <a:off x="5138928" y="4455251"/>
            <a:ext cx="2121408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0F0F0F"/>
                </a:solidFill>
                <a:latin typeface="Aptos"/>
              </a:rPr>
              <a:t>False Positives
at Scale</a:t>
            </a:r>
          </a:p>
        </p:txBody>
      </p:sp>
      <p:sp>
        <p:nvSpPr>
          <p:cNvPr id="17433" name="Rectangle 17432">
            <a:extLst>
              <a:ext uri="{FF2B5EF4-FFF2-40B4-BE49-F238E27FC236}">
                <a16:creationId xmlns:a16="http://schemas.microsoft.com/office/drawing/2014/main" id="{B8E5704B-879D-8AF3-F8DD-DBDD56AD5ABD}"/>
              </a:ext>
            </a:extLst>
          </p:cNvPr>
          <p:cNvSpPr/>
          <p:nvPr/>
        </p:nvSpPr>
        <p:spPr>
          <a:xfrm>
            <a:off x="4645152" y="5266944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Oval 17438">
            <a:extLst>
              <a:ext uri="{FF2B5EF4-FFF2-40B4-BE49-F238E27FC236}">
                <a16:creationId xmlns:a16="http://schemas.microsoft.com/office/drawing/2014/main" id="{86C5548A-2436-4B92-58DD-5E9F803EDA59}"/>
              </a:ext>
            </a:extLst>
          </p:cNvPr>
          <p:cNvSpPr/>
          <p:nvPr/>
        </p:nvSpPr>
        <p:spPr>
          <a:xfrm>
            <a:off x="4559026" y="2482695"/>
            <a:ext cx="525896" cy="488543"/>
          </a:xfrm>
          <a:prstGeom prst="ellipse">
            <a:avLst/>
          </a:prstGeom>
          <a:solidFill>
            <a:srgbClr val="BE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7064B2FF-CF62-4799-2C0C-172B2C86FB35}"/>
              </a:ext>
            </a:extLst>
          </p:cNvPr>
          <p:cNvSpPr txBox="1"/>
          <p:nvPr/>
        </p:nvSpPr>
        <p:spPr>
          <a:xfrm>
            <a:off x="4597138" y="3583269"/>
            <a:ext cx="52931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/>
              </a:rPr>
              <a:t>🔐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16F0E18-D775-92CD-3E6E-5A0734B2434B}"/>
              </a:ext>
            </a:extLst>
          </p:cNvPr>
          <p:cNvSpPr txBox="1"/>
          <p:nvPr/>
        </p:nvSpPr>
        <p:spPr>
          <a:xfrm>
            <a:off x="4560546" y="2517137"/>
            <a:ext cx="52931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"/>
              </a:rPr>
              <a:t>⚠️</a:t>
            </a:r>
            <a:endParaRPr sz="2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441" name="Oval 17440">
            <a:extLst>
              <a:ext uri="{FF2B5EF4-FFF2-40B4-BE49-F238E27FC236}">
                <a16:creationId xmlns:a16="http://schemas.microsoft.com/office/drawing/2014/main" id="{EC67495C-EB10-CDA7-D91A-FC73A57A56D6}"/>
              </a:ext>
            </a:extLst>
          </p:cNvPr>
          <p:cNvSpPr/>
          <p:nvPr/>
        </p:nvSpPr>
        <p:spPr>
          <a:xfrm>
            <a:off x="4584660" y="4503079"/>
            <a:ext cx="525896" cy="488543"/>
          </a:xfrm>
          <a:prstGeom prst="ellipse">
            <a:avLst/>
          </a:prstGeom>
          <a:solidFill>
            <a:srgbClr val="BE37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⚠️</a:t>
            </a:r>
            <a:endParaRPr dirty="0"/>
          </a:p>
        </p:txBody>
      </p:sp>
      <p:sp>
        <p:nvSpPr>
          <p:cNvPr id="17443" name="Oval 17442">
            <a:extLst>
              <a:ext uri="{FF2B5EF4-FFF2-40B4-BE49-F238E27FC236}">
                <a16:creationId xmlns:a16="http://schemas.microsoft.com/office/drawing/2014/main" id="{12D74CF9-0B91-5E32-8AC1-5C387E4DCFBA}"/>
              </a:ext>
            </a:extLst>
          </p:cNvPr>
          <p:cNvSpPr/>
          <p:nvPr/>
        </p:nvSpPr>
        <p:spPr>
          <a:xfrm>
            <a:off x="8595360" y="2542032"/>
            <a:ext cx="402336" cy="402336"/>
          </a:xfrm>
          <a:prstGeom prst="ellipse">
            <a:avLst/>
          </a:prstGeom>
          <a:solidFill>
            <a:srgbClr val="0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TextBox 17444">
            <a:extLst>
              <a:ext uri="{FF2B5EF4-FFF2-40B4-BE49-F238E27FC236}">
                <a16:creationId xmlns:a16="http://schemas.microsoft.com/office/drawing/2014/main" id="{C5FD70D6-822C-9C31-2AFC-D7A9D795BBD5}"/>
              </a:ext>
            </a:extLst>
          </p:cNvPr>
          <p:cNvSpPr txBox="1"/>
          <p:nvPr/>
        </p:nvSpPr>
        <p:spPr>
          <a:xfrm>
            <a:off x="8622792" y="2551175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447" name="TextBox 17446">
            <a:extLst>
              <a:ext uri="{FF2B5EF4-FFF2-40B4-BE49-F238E27FC236}">
                <a16:creationId xmlns:a16="http://schemas.microsoft.com/office/drawing/2014/main" id="{64F4E2FE-9051-CFCE-9280-B70A316591D2}"/>
              </a:ext>
            </a:extLst>
          </p:cNvPr>
          <p:cNvSpPr txBox="1"/>
          <p:nvPr/>
        </p:nvSpPr>
        <p:spPr>
          <a:xfrm>
            <a:off x="9162288" y="2514600"/>
            <a:ext cx="21488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0F0F0F"/>
                </a:solidFill>
                <a:latin typeface="Aptos"/>
              </a:rPr>
              <a:t>Multi-Hop RFC
Node Trace</a:t>
            </a:r>
          </a:p>
        </p:txBody>
      </p:sp>
      <p:sp>
        <p:nvSpPr>
          <p:cNvPr id="17449" name="Rectangle 17448">
            <a:extLst>
              <a:ext uri="{FF2B5EF4-FFF2-40B4-BE49-F238E27FC236}">
                <a16:creationId xmlns:a16="http://schemas.microsoft.com/office/drawing/2014/main" id="{1AD4FEAA-DB8D-995D-9947-EE4EF02C23AA}"/>
              </a:ext>
            </a:extLst>
          </p:cNvPr>
          <p:cNvSpPr/>
          <p:nvPr/>
        </p:nvSpPr>
        <p:spPr>
          <a:xfrm>
            <a:off x="8613413" y="3269362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Oval 17450">
            <a:extLst>
              <a:ext uri="{FF2B5EF4-FFF2-40B4-BE49-F238E27FC236}">
                <a16:creationId xmlns:a16="http://schemas.microsoft.com/office/drawing/2014/main" id="{226E0710-8D12-BAC7-8ADE-A3A751B4E04F}"/>
              </a:ext>
            </a:extLst>
          </p:cNvPr>
          <p:cNvSpPr/>
          <p:nvPr/>
        </p:nvSpPr>
        <p:spPr>
          <a:xfrm>
            <a:off x="8595360" y="3493008"/>
            <a:ext cx="402336" cy="402336"/>
          </a:xfrm>
          <a:prstGeom prst="ellipse">
            <a:avLst/>
          </a:prstGeom>
          <a:solidFill>
            <a:srgbClr val="0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TextBox 17452">
            <a:extLst>
              <a:ext uri="{FF2B5EF4-FFF2-40B4-BE49-F238E27FC236}">
                <a16:creationId xmlns:a16="http://schemas.microsoft.com/office/drawing/2014/main" id="{9ED07E36-B31E-0AD1-EE19-A25DDB18F124}"/>
              </a:ext>
            </a:extLst>
          </p:cNvPr>
          <p:cNvSpPr txBox="1"/>
          <p:nvPr/>
        </p:nvSpPr>
        <p:spPr>
          <a:xfrm>
            <a:off x="8622792" y="3502151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455" name="TextBox 17454">
            <a:extLst>
              <a:ext uri="{FF2B5EF4-FFF2-40B4-BE49-F238E27FC236}">
                <a16:creationId xmlns:a16="http://schemas.microsoft.com/office/drawing/2014/main" id="{251E8065-23E5-1961-32DC-9A6B3BDE96C1}"/>
              </a:ext>
            </a:extLst>
          </p:cNvPr>
          <p:cNvSpPr txBox="1"/>
          <p:nvPr/>
        </p:nvSpPr>
        <p:spPr>
          <a:xfrm>
            <a:off x="9162288" y="3465576"/>
            <a:ext cx="21488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ptos"/>
              </a:rPr>
              <a:t>AES-256 PII
Redaction &amp;
BSA Compliance</a:t>
            </a:r>
          </a:p>
        </p:txBody>
      </p:sp>
      <p:sp>
        <p:nvSpPr>
          <p:cNvPr id="17457" name="Rectangle 17456">
            <a:extLst>
              <a:ext uri="{FF2B5EF4-FFF2-40B4-BE49-F238E27FC236}">
                <a16:creationId xmlns:a16="http://schemas.microsoft.com/office/drawing/2014/main" id="{BDB78E95-36C6-D61D-E208-3B5721950CF0}"/>
              </a:ext>
            </a:extLst>
          </p:cNvPr>
          <p:cNvSpPr/>
          <p:nvPr/>
        </p:nvSpPr>
        <p:spPr>
          <a:xfrm>
            <a:off x="8595360" y="4258510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9" name="Oval 17458">
            <a:extLst>
              <a:ext uri="{FF2B5EF4-FFF2-40B4-BE49-F238E27FC236}">
                <a16:creationId xmlns:a16="http://schemas.microsoft.com/office/drawing/2014/main" id="{04C09EB2-C380-CAF8-4B8E-5BA08B1D5758}"/>
              </a:ext>
            </a:extLst>
          </p:cNvPr>
          <p:cNvSpPr/>
          <p:nvPr/>
        </p:nvSpPr>
        <p:spPr>
          <a:xfrm>
            <a:off x="8595360" y="4599432"/>
            <a:ext cx="402336" cy="402336"/>
          </a:xfrm>
          <a:prstGeom prst="ellipse">
            <a:avLst/>
          </a:prstGeom>
          <a:solidFill>
            <a:srgbClr val="0F7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TextBox 17460">
            <a:extLst>
              <a:ext uri="{FF2B5EF4-FFF2-40B4-BE49-F238E27FC236}">
                <a16:creationId xmlns:a16="http://schemas.microsoft.com/office/drawing/2014/main" id="{6B909A14-81B1-FD2A-FF2E-BF861C90A735}"/>
              </a:ext>
            </a:extLst>
          </p:cNvPr>
          <p:cNvSpPr txBox="1"/>
          <p:nvPr/>
        </p:nvSpPr>
        <p:spPr>
          <a:xfrm>
            <a:off x="8622792" y="4608576"/>
            <a:ext cx="34747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463" name="TextBox 17462">
            <a:extLst>
              <a:ext uri="{FF2B5EF4-FFF2-40B4-BE49-F238E27FC236}">
                <a16:creationId xmlns:a16="http://schemas.microsoft.com/office/drawing/2014/main" id="{57EB6492-5A5C-F492-CAA6-8103F3270F02}"/>
              </a:ext>
            </a:extLst>
          </p:cNvPr>
          <p:cNvSpPr txBox="1"/>
          <p:nvPr/>
        </p:nvSpPr>
        <p:spPr>
          <a:xfrm>
            <a:off x="9162288" y="4572000"/>
            <a:ext cx="214884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F0F0F"/>
                </a:solidFill>
                <a:latin typeface="Aptos"/>
              </a:rPr>
              <a:t>Confidence-Based
AI Triage</a:t>
            </a:r>
          </a:p>
        </p:txBody>
      </p:sp>
      <p:sp>
        <p:nvSpPr>
          <p:cNvPr id="17465" name="Rectangle 17464">
            <a:extLst>
              <a:ext uri="{FF2B5EF4-FFF2-40B4-BE49-F238E27FC236}">
                <a16:creationId xmlns:a16="http://schemas.microsoft.com/office/drawing/2014/main" id="{50F8D403-D07C-2C2C-C5EA-FCB7485804FF}"/>
              </a:ext>
            </a:extLst>
          </p:cNvPr>
          <p:cNvSpPr/>
          <p:nvPr/>
        </p:nvSpPr>
        <p:spPr>
          <a:xfrm>
            <a:off x="709875" y="3261801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Rectangle 17466">
            <a:extLst>
              <a:ext uri="{FF2B5EF4-FFF2-40B4-BE49-F238E27FC236}">
                <a16:creationId xmlns:a16="http://schemas.microsoft.com/office/drawing/2014/main" id="{62FCEF91-235A-325E-19CB-954110237359}"/>
              </a:ext>
            </a:extLst>
          </p:cNvPr>
          <p:cNvSpPr/>
          <p:nvPr/>
        </p:nvSpPr>
        <p:spPr>
          <a:xfrm>
            <a:off x="670793" y="4263996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1" name="Rectangle 17470">
            <a:extLst>
              <a:ext uri="{FF2B5EF4-FFF2-40B4-BE49-F238E27FC236}">
                <a16:creationId xmlns:a16="http://schemas.microsoft.com/office/drawing/2014/main" id="{211B5FF6-C08A-43D9-769C-D4154DF42279}"/>
              </a:ext>
            </a:extLst>
          </p:cNvPr>
          <p:cNvSpPr/>
          <p:nvPr/>
        </p:nvSpPr>
        <p:spPr>
          <a:xfrm>
            <a:off x="8622792" y="5266944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3" name="Rectangle 17472">
            <a:extLst>
              <a:ext uri="{FF2B5EF4-FFF2-40B4-BE49-F238E27FC236}">
                <a16:creationId xmlns:a16="http://schemas.microsoft.com/office/drawing/2014/main" id="{87BD63C2-551B-A4BA-43CD-47289B4BB4CE}"/>
              </a:ext>
            </a:extLst>
          </p:cNvPr>
          <p:cNvSpPr/>
          <p:nvPr/>
        </p:nvSpPr>
        <p:spPr>
          <a:xfrm>
            <a:off x="731519" y="5276014"/>
            <a:ext cx="2907792" cy="10972"/>
          </a:xfrm>
          <a:prstGeom prst="rect">
            <a:avLst/>
          </a:prstGeom>
          <a:solidFill>
            <a:srgbClr val="AF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6" name="Rounded Rectangle 13">
            <a:extLst>
              <a:ext uri="{FF2B5EF4-FFF2-40B4-BE49-F238E27FC236}">
                <a16:creationId xmlns:a16="http://schemas.microsoft.com/office/drawing/2014/main" id="{0ED1EA39-6607-F7DB-CA9B-9BF803CB7961}"/>
              </a:ext>
            </a:extLst>
          </p:cNvPr>
          <p:cNvSpPr/>
          <p:nvPr/>
        </p:nvSpPr>
        <p:spPr>
          <a:xfrm>
            <a:off x="6467901" y="3866414"/>
            <a:ext cx="4539396" cy="2303742"/>
          </a:xfrm>
          <a:prstGeom prst="roundRect">
            <a:avLst/>
          </a:prstGeom>
          <a:solidFill>
            <a:srgbClr val="EEFCF4"/>
          </a:solidFill>
          <a:ln w="25400">
            <a:solidFill>
              <a:srgbClr val="14A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4" name="Rounded Rectangle 13">
            <a:extLst>
              <a:ext uri="{FF2B5EF4-FFF2-40B4-BE49-F238E27FC236}">
                <a16:creationId xmlns:a16="http://schemas.microsoft.com/office/drawing/2014/main" id="{03EBCD1E-74C5-95E8-4F2F-57907229117E}"/>
              </a:ext>
            </a:extLst>
          </p:cNvPr>
          <p:cNvSpPr/>
          <p:nvPr/>
        </p:nvSpPr>
        <p:spPr>
          <a:xfrm>
            <a:off x="1254676" y="3873096"/>
            <a:ext cx="4539396" cy="2303742"/>
          </a:xfrm>
          <a:prstGeom prst="roundRect">
            <a:avLst/>
          </a:prstGeom>
          <a:solidFill>
            <a:srgbClr val="EEFCF4"/>
          </a:solidFill>
          <a:ln w="25400">
            <a:solidFill>
              <a:srgbClr val="14A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000664" y="-47625"/>
            <a:ext cx="8816196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 :TRANSFORMING CYBER DEFENCE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2026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64" y="-27931"/>
            <a:ext cx="2249850" cy="1062337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478DCDFC-0DAC-762D-5460-7F47FDB76A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3320" y="145405"/>
            <a:ext cx="1714687" cy="91293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Web Innovators</a:t>
            </a:r>
            <a:endParaRPr lang="en-IN" dirty="0"/>
          </a:p>
        </p:txBody>
      </p:sp>
      <p:sp>
        <p:nvSpPr>
          <p:cNvPr id="17414" name="Rounded Rectangle 4">
            <a:extLst>
              <a:ext uri="{FF2B5EF4-FFF2-40B4-BE49-F238E27FC236}">
                <a16:creationId xmlns:a16="http://schemas.microsoft.com/office/drawing/2014/main" id="{BCE633BF-BC40-7411-9047-21722DABD294}"/>
              </a:ext>
            </a:extLst>
          </p:cNvPr>
          <p:cNvSpPr/>
          <p:nvPr/>
        </p:nvSpPr>
        <p:spPr>
          <a:xfrm>
            <a:off x="1254675" y="1125258"/>
            <a:ext cx="4539397" cy="23037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833A142E-1211-038C-55E7-46C99E4F0924}"/>
              </a:ext>
            </a:extLst>
          </p:cNvPr>
          <p:cNvSpPr txBox="1"/>
          <p:nvPr/>
        </p:nvSpPr>
        <p:spPr>
          <a:xfrm>
            <a:off x="1391271" y="1736849"/>
            <a:ext cx="3683223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sz="1400" dirty="0"/>
              <a:t>• Detect phishing, spoofing and suspicious email patterns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sz="1400" dirty="0"/>
              <a:t>• Flag malicious links and attachments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sz="1400" dirty="0"/>
              <a:t>• Provide risk-based alerts before user interaction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sz="1400" dirty="0"/>
              <a:t>• Strengthen the first layer of email defense</a:t>
            </a:r>
          </a:p>
        </p:txBody>
      </p:sp>
      <p:sp>
        <p:nvSpPr>
          <p:cNvPr id="17474" name="Rounded Rectangle 4">
            <a:extLst>
              <a:ext uri="{FF2B5EF4-FFF2-40B4-BE49-F238E27FC236}">
                <a16:creationId xmlns:a16="http://schemas.microsoft.com/office/drawing/2014/main" id="{B49D4E18-79F8-76FE-4E31-B04F3B667CB8}"/>
              </a:ext>
            </a:extLst>
          </p:cNvPr>
          <p:cNvSpPr/>
          <p:nvPr/>
        </p:nvSpPr>
        <p:spPr>
          <a:xfrm>
            <a:off x="6467901" y="1121118"/>
            <a:ext cx="4539397" cy="230374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5" name="TextBox 17474">
            <a:extLst>
              <a:ext uri="{FF2B5EF4-FFF2-40B4-BE49-F238E27FC236}">
                <a16:creationId xmlns:a16="http://schemas.microsoft.com/office/drawing/2014/main" id="{D643BD45-9313-F0C5-FC7B-B2F401C27330}"/>
              </a:ext>
            </a:extLst>
          </p:cNvPr>
          <p:cNvSpPr txBox="1"/>
          <p:nvPr/>
        </p:nvSpPr>
        <p:spPr>
          <a:xfrm>
            <a:off x="1496708" y="1306856"/>
            <a:ext cx="2090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SECURITY IMPACT</a:t>
            </a:r>
          </a:p>
        </p:txBody>
      </p:sp>
      <p:sp>
        <p:nvSpPr>
          <p:cNvPr id="17476" name="TextBox 17475">
            <a:extLst>
              <a:ext uri="{FF2B5EF4-FFF2-40B4-BE49-F238E27FC236}">
                <a16:creationId xmlns:a16="http://schemas.microsoft.com/office/drawing/2014/main" id="{DE19AB97-017E-1FF1-E541-0D8CB164907C}"/>
              </a:ext>
            </a:extLst>
          </p:cNvPr>
          <p:cNvSpPr txBox="1"/>
          <p:nvPr/>
        </p:nvSpPr>
        <p:spPr>
          <a:xfrm>
            <a:off x="6579300" y="1294982"/>
            <a:ext cx="1629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USER IMPACT</a:t>
            </a:r>
          </a:p>
        </p:txBody>
      </p:sp>
      <p:sp>
        <p:nvSpPr>
          <p:cNvPr id="17478" name="TextBox 17477">
            <a:extLst>
              <a:ext uri="{FF2B5EF4-FFF2-40B4-BE49-F238E27FC236}">
                <a16:creationId xmlns:a16="http://schemas.microsoft.com/office/drawing/2014/main" id="{F7F7D171-39A9-9C3F-D7DC-B5990A173861}"/>
              </a:ext>
            </a:extLst>
          </p:cNvPr>
          <p:cNvSpPr txBox="1"/>
          <p:nvPr/>
        </p:nvSpPr>
        <p:spPr>
          <a:xfrm>
            <a:off x="6579300" y="1869962"/>
            <a:ext cx="4099199" cy="1146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Simple warnings for non-technical users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Explain why an email is risky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Reduce accidental clicks and unsafe downloads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Build practical cybersecurity awareness</a:t>
            </a:r>
          </a:p>
        </p:txBody>
      </p:sp>
      <p:sp>
        <p:nvSpPr>
          <p:cNvPr id="17479" name="TextBox 17478">
            <a:extLst>
              <a:ext uri="{FF2B5EF4-FFF2-40B4-BE49-F238E27FC236}">
                <a16:creationId xmlns:a16="http://schemas.microsoft.com/office/drawing/2014/main" id="{4525A07E-3647-2E05-D984-514D2CAF311C}"/>
              </a:ext>
            </a:extLst>
          </p:cNvPr>
          <p:cNvSpPr txBox="1"/>
          <p:nvPr/>
        </p:nvSpPr>
        <p:spPr>
          <a:xfrm>
            <a:off x="1391271" y="4744125"/>
            <a:ext cx="3709670" cy="1426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Reduce potential fraud and financial losses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Lower cost of handling security incidents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Minimize downtime and recovery effort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Scalable for organizations and institutions</a:t>
            </a:r>
          </a:p>
          <a:p>
            <a:endParaRPr lang="en-IN" sz="1400" dirty="0"/>
          </a:p>
        </p:txBody>
      </p:sp>
      <p:sp>
        <p:nvSpPr>
          <p:cNvPr id="17480" name="TextBox 17479">
            <a:extLst>
              <a:ext uri="{FF2B5EF4-FFF2-40B4-BE49-F238E27FC236}">
                <a16:creationId xmlns:a16="http://schemas.microsoft.com/office/drawing/2014/main" id="{A5F2E0E6-7175-0E0B-F79D-EAB4D6F1D247}"/>
              </a:ext>
            </a:extLst>
          </p:cNvPr>
          <p:cNvSpPr txBox="1"/>
          <p:nvPr/>
        </p:nvSpPr>
        <p:spPr>
          <a:xfrm>
            <a:off x="6642817" y="4694671"/>
            <a:ext cx="3857146" cy="1426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Safer digital communication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Better protection for students and employees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Encourage responsible online behavior</a:t>
            </a:r>
          </a:p>
          <a:p>
            <a:pPr>
              <a:spcAft>
                <a:spcPts val="500"/>
              </a:spcAft>
              <a:defRPr sz="1040">
                <a:solidFill>
                  <a:srgbClr val="2D2D2D"/>
                </a:solidFill>
                <a:latin typeface="Arial"/>
              </a:defRPr>
            </a:pPr>
            <a:r>
              <a:rPr lang="en-US" sz="1400" dirty="0"/>
              <a:t>• Increase trust in digital communication</a:t>
            </a:r>
          </a:p>
          <a:p>
            <a:endParaRPr lang="en-IN" sz="1400" dirty="0"/>
          </a:p>
        </p:txBody>
      </p:sp>
      <p:sp>
        <p:nvSpPr>
          <p:cNvPr id="17481" name="TextBox 17480">
            <a:extLst>
              <a:ext uri="{FF2B5EF4-FFF2-40B4-BE49-F238E27FC236}">
                <a16:creationId xmlns:a16="http://schemas.microsoft.com/office/drawing/2014/main" id="{10CBE87F-DEA5-0163-C67E-6E391549FFCD}"/>
              </a:ext>
            </a:extLst>
          </p:cNvPr>
          <p:cNvSpPr txBox="1"/>
          <p:nvPr/>
        </p:nvSpPr>
        <p:spPr>
          <a:xfrm>
            <a:off x="6734807" y="4064287"/>
            <a:ext cx="20027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SOCIAL BENEFITS</a:t>
            </a:r>
          </a:p>
        </p:txBody>
      </p:sp>
      <p:sp>
        <p:nvSpPr>
          <p:cNvPr id="17482" name="TextBox 17481">
            <a:extLst>
              <a:ext uri="{FF2B5EF4-FFF2-40B4-BE49-F238E27FC236}">
                <a16:creationId xmlns:a16="http://schemas.microsoft.com/office/drawing/2014/main" id="{CEB2D670-6D59-F053-A93C-DF81CAE05DAD}"/>
              </a:ext>
            </a:extLst>
          </p:cNvPr>
          <p:cNvSpPr txBox="1"/>
          <p:nvPr/>
        </p:nvSpPr>
        <p:spPr>
          <a:xfrm>
            <a:off x="1496708" y="4064287"/>
            <a:ext cx="2437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ECONOMIC BENEFITS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4796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SIH </a:t>
            </a:r>
            <a:r>
              <a:rPr lang="en-US" sz="1400" b="1" dirty="0">
                <a:solidFill>
                  <a:prstClr val="white"/>
                </a:solidFill>
              </a:rPr>
              <a:t>2026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0DC949A-41A3-3E00-93D8-5A1E7FF6D08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283" y="76203"/>
            <a:ext cx="2478265" cy="7588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Web Innovators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8D2DE0-6C4C-2310-741C-BBFCA52D1BC4}"/>
              </a:ext>
            </a:extLst>
          </p:cNvPr>
          <p:cNvSpPr txBox="1"/>
          <p:nvPr/>
        </p:nvSpPr>
        <p:spPr>
          <a:xfrm>
            <a:off x="103833" y="768406"/>
            <a:ext cx="5663773" cy="622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Do et al. — Deep Learning for Phishing Detection: Taxonomy, Challenges &amp; Future Directions, IEEE Access, 2022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4"/>
              </a:rPr>
              <a:t>doi.org/10.1109/ACCESS.2022.3151903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 err="1">
                <a:solidFill>
                  <a:schemeClr val="tx1"/>
                </a:solidFill>
                <a:effectLst/>
                <a:latin typeface="Calibri" pitchFamily="34" charset="0"/>
              </a:rPr>
              <a:t>Sahingoz</a:t>
            </a: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 et al. — DEPHIDES: Deep Learning Based Phishing Detection System, IEEE Access, 2024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5"/>
              </a:rPr>
              <a:t>doi.org/10.1109/ACCESS.2024.3352629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 err="1">
                <a:solidFill>
                  <a:schemeClr val="tx1"/>
                </a:solidFill>
                <a:effectLst/>
                <a:latin typeface="Calibri" pitchFamily="34" charset="0"/>
              </a:rPr>
              <a:t>Altwaijry</a:t>
            </a: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 et al. — Advancing Phishing Email Detection: A Comparative Study of DL Models, Sensors, 2024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6"/>
              </a:rPr>
              <a:t>doi.org/10.3390/s24072077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Wang &amp; Wang — Revisiting Email Forwarding Security under the ARC Protocol, ACM WWW, 2022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7"/>
              </a:rPr>
              <a:t>doi.org/10.1145/3485447.3512228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Iyer et al. — Email Spoofing Detection Using Volatile Memory Forensics, IEEE CNS, 2017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8"/>
              </a:rPr>
              <a:t>semanticscholar.org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Phishing Email Dataset (Enron + Nazario + CEAS + Nigerian + </a:t>
            </a:r>
            <a:r>
              <a:rPr lang="en-IN" sz="1400" b="0" i="0" u="none" strike="noStrike" dirty="0" err="1">
                <a:solidFill>
                  <a:schemeClr val="tx1"/>
                </a:solidFill>
                <a:effectLst/>
                <a:latin typeface="Calibri" pitchFamily="34" charset="0"/>
              </a:rPr>
              <a:t>SpamAssassin</a:t>
            </a: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)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9"/>
              </a:rPr>
              <a:t>kaggle.com/datasets/</a:t>
            </a:r>
            <a:r>
              <a:rPr lang="en-IN" sz="1400" b="0" i="0" u="sng" strike="noStrike" dirty="0" err="1">
                <a:solidFill>
                  <a:schemeClr val="tx1"/>
                </a:solidFill>
                <a:effectLst/>
                <a:latin typeface="Calibri" pitchFamily="34" charset="0"/>
                <a:hlinkClick r:id="rId9"/>
              </a:rPr>
              <a:t>naserabdullahalam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 err="1">
                <a:solidFill>
                  <a:schemeClr val="tx1"/>
                </a:solidFill>
                <a:effectLst/>
                <a:latin typeface="Calibri" pitchFamily="34" charset="0"/>
              </a:rPr>
              <a:t>MaxMind</a:t>
            </a: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 GeoLite2 — free IP geolocation database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10"/>
              </a:rPr>
              <a:t>dev.maxmind.com/</a:t>
            </a:r>
            <a:r>
              <a:rPr lang="en-IN" sz="1400" b="0" i="0" u="sng" strike="noStrike" dirty="0" err="1">
                <a:solidFill>
                  <a:schemeClr val="tx1"/>
                </a:solidFill>
                <a:effectLst/>
                <a:latin typeface="Calibri" pitchFamily="34" charset="0"/>
                <a:hlinkClick r:id="rId10"/>
              </a:rPr>
              <a:t>geoip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 err="1">
                <a:solidFill>
                  <a:schemeClr val="tx1"/>
                </a:solidFill>
                <a:effectLst/>
                <a:latin typeface="Calibri" pitchFamily="34" charset="0"/>
              </a:rPr>
              <a:t>AbuseIPDB</a:t>
            </a: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 — IP reputation &amp; abuse reporting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11"/>
              </a:rPr>
              <a:t>abuseipdb.com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OTX (AlienVault) — open threat intelligence feeds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12"/>
              </a:rPr>
              <a:t>otx.alienvault.com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RFC 7208 (SPF), RFC 6376 (DKIM), RFC 7489 (DMARC)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13"/>
              </a:rPr>
              <a:t>rfc-editor.org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CERT-In — national cyber incident reporting guidelines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14"/>
              </a:rPr>
              <a:t>cert-in.org.in</a:t>
            </a:r>
            <a:endParaRPr lang="en-IN" sz="1400" b="0" dirty="0">
              <a:effectLst/>
            </a:endParaRPr>
          </a:p>
          <a:p>
            <a:pPr rtl="0">
              <a:spcBef>
                <a:spcPts val="900"/>
              </a:spcBef>
              <a:buNone/>
            </a:pP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Digital Personal Data Protection Act, 2023 (</a:t>
            </a:r>
            <a:r>
              <a:rPr lang="en-IN" sz="1400" b="0" i="0" u="none" strike="noStrike" dirty="0" err="1">
                <a:solidFill>
                  <a:schemeClr val="tx1"/>
                </a:solidFill>
                <a:effectLst/>
                <a:latin typeface="Calibri" pitchFamily="34" charset="0"/>
              </a:rPr>
              <a:t>MeitY</a:t>
            </a:r>
            <a:r>
              <a:rPr lang="en-IN" sz="1400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) — </a:t>
            </a:r>
            <a:r>
              <a:rPr lang="en-IN" sz="1400" b="0" i="0" u="sng" strike="noStrike" dirty="0">
                <a:solidFill>
                  <a:schemeClr val="tx1"/>
                </a:solidFill>
                <a:effectLst/>
                <a:latin typeface="Calibri" pitchFamily="34" charset="0"/>
                <a:hlinkClick r:id="rId15"/>
              </a:rPr>
              <a:t>meity.gov.in</a:t>
            </a:r>
            <a:endParaRPr lang="en-IN" sz="1400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A001B4-0B21-7794-7AAC-B3FBAA009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789676"/>
              </p:ext>
            </p:extLst>
          </p:nvPr>
        </p:nvGraphicFramePr>
        <p:xfrm>
          <a:off x="5685817" y="1249446"/>
          <a:ext cx="6402350" cy="46629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2955">
                  <a:extLst>
                    <a:ext uri="{9D8B030D-6E8A-4147-A177-3AD203B41FA5}">
                      <a16:colId xmlns:a16="http://schemas.microsoft.com/office/drawing/2014/main" val="4082286175"/>
                    </a:ext>
                  </a:extLst>
                </a:gridCol>
                <a:gridCol w="810828">
                  <a:extLst>
                    <a:ext uri="{9D8B030D-6E8A-4147-A177-3AD203B41FA5}">
                      <a16:colId xmlns:a16="http://schemas.microsoft.com/office/drawing/2014/main" val="1763103407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258766272"/>
                    </a:ext>
                  </a:extLst>
                </a:gridCol>
                <a:gridCol w="1586907">
                  <a:extLst>
                    <a:ext uri="{9D8B030D-6E8A-4147-A177-3AD203B41FA5}">
                      <a16:colId xmlns:a16="http://schemas.microsoft.com/office/drawing/2014/main" val="3709377418"/>
                    </a:ext>
                  </a:extLst>
                </a:gridCol>
                <a:gridCol w="1226631">
                  <a:extLst>
                    <a:ext uri="{9D8B030D-6E8A-4147-A177-3AD203B41FA5}">
                      <a16:colId xmlns:a16="http://schemas.microsoft.com/office/drawing/2014/main" val="728147706"/>
                    </a:ext>
                  </a:extLst>
                </a:gridCol>
              </a:tblGrid>
              <a:tr h="6697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Ours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Spam 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Filters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Header/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GeoIP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Tools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Enterprise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Suites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912119"/>
                  </a:ext>
                </a:extLst>
              </a:tr>
              <a:tr h="6059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NLP / BEC Content Detection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solidFill>
                      <a:srgbClr val="225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⚠️basic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407182"/>
                  </a:ext>
                </a:extLst>
              </a:tr>
              <a:tr h="6059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Header &amp; Protocol Forensics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solidFill>
                      <a:srgbClr val="225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⚠️</a:t>
                      </a:r>
                      <a:r>
                        <a:rPr lang="en-IN" dirty="0"/>
                        <a:t>view-only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550895"/>
                  </a:ext>
                </a:extLst>
              </a:tr>
              <a:tr h="6059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IP Geolocation &amp; Infra Mapping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solidFill>
                      <a:srgbClr val="225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⚠️standalone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⚠️Partial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514499"/>
                  </a:ext>
                </a:extLst>
              </a:tr>
              <a:tr h="6059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Campaign / Graph Correlation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solidFill>
                      <a:srgbClr val="225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⚠️Limited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051656"/>
                  </a:ext>
                </a:extLst>
              </a:tr>
              <a:tr h="60594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Forensic Report + Chain-of-Custody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solidFill>
                      <a:srgbClr val="225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⚠️Partial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56273"/>
                  </a:ext>
                </a:extLst>
              </a:tr>
              <a:tr h="86108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u="none" strike="noStrike" dirty="0">
                          <a:solidFill>
                            <a:schemeClr val="bg1"/>
                          </a:solidFill>
                          <a:effectLst/>
                        </a:rPr>
                        <a:t>Open-Source, Institution-Friendly Cost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solidFill>
                      <a:srgbClr val="225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❌</a:t>
                      </a:r>
                      <a:endParaRPr lang="en-IN" dirty="0"/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529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8752</TotalTime>
  <Words>924</Words>
  <Application>Microsoft Office PowerPoint</Application>
  <PresentationFormat>Widescreen</PresentationFormat>
  <Paragraphs>188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Aptos</vt:lpstr>
      <vt:lpstr>Aptos Display</vt:lpstr>
      <vt:lpstr>Aptos Light</vt:lpstr>
      <vt:lpstr>Arial</vt:lpstr>
      <vt:lpstr>Calibri</vt:lpstr>
      <vt:lpstr>Garamond</vt:lpstr>
      <vt:lpstr>Montserrat</vt:lpstr>
      <vt:lpstr>Times New Roman</vt:lpstr>
      <vt:lpstr>Tisa Offc Serif Pro</vt:lpstr>
      <vt:lpstr>TradeGothic</vt:lpstr>
      <vt:lpstr>Office Theme</vt:lpstr>
      <vt:lpstr>SMART INDIA HACKATHON 2026</vt:lpstr>
      <vt:lpstr>MailTrace AI : AI-Powered Email Threat Detection, Geolocation &amp; Forensic Intelligence</vt:lpstr>
      <vt:lpstr>TECHNICAL APPROACH</vt:lpstr>
      <vt:lpstr>FEASIBILITY,RISKS&amp;MITIGATION  STRATEGIES</vt:lpstr>
      <vt:lpstr>IMPACT AND BENEFITS :TRANSFORMING CYBER DEFENCE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Rajat Garg</cp:lastModifiedBy>
  <cp:revision>156</cp:revision>
  <dcterms:created xsi:type="dcterms:W3CDTF">2013-12-12T18:46:50Z</dcterms:created>
  <dcterms:modified xsi:type="dcterms:W3CDTF">2026-09-08T15:32:44Z</dcterms:modified>
  <cp:category/>
</cp:coreProperties>
</file>